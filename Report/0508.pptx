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0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an, Kaiyang" userId="b75c2dfd-7087-4e6d-8294-e848e36bd412" providerId="ADAL" clId="{7A3B1D41-68C4-4869-96EE-EA53FCE4CEAE}"/>
    <pc:docChg chg="undo custSel addSld delSld modSld">
      <pc:chgData name="Qian, Kaiyang" userId="b75c2dfd-7087-4e6d-8294-e848e36bd412" providerId="ADAL" clId="{7A3B1D41-68C4-4869-96EE-EA53FCE4CEAE}" dt="2025-05-08T20:00:06.688" v="156" actId="2696"/>
      <pc:docMkLst>
        <pc:docMk/>
      </pc:docMkLst>
      <pc:sldChg chg="modSp new mod">
        <pc:chgData name="Qian, Kaiyang" userId="b75c2dfd-7087-4e6d-8294-e848e36bd412" providerId="ADAL" clId="{7A3B1D41-68C4-4869-96EE-EA53FCE4CEAE}" dt="2025-05-07T05:44:45.080" v="12" actId="1076"/>
        <pc:sldMkLst>
          <pc:docMk/>
          <pc:sldMk cId="2518793654" sldId="279"/>
        </pc:sldMkLst>
        <pc:spChg chg="mod">
          <ac:chgData name="Qian, Kaiyang" userId="b75c2dfd-7087-4e6d-8294-e848e36bd412" providerId="ADAL" clId="{7A3B1D41-68C4-4869-96EE-EA53FCE4CEAE}" dt="2025-05-07T05:42:41.480" v="1"/>
          <ac:spMkLst>
            <pc:docMk/>
            <pc:sldMk cId="2518793654" sldId="279"/>
            <ac:spMk id="2" creationId="{0ED327E3-101B-2CA1-7E8D-4F8C5A7FE6D5}"/>
          </ac:spMkLst>
        </pc:spChg>
        <pc:spChg chg="mod">
          <ac:chgData name="Qian, Kaiyang" userId="b75c2dfd-7087-4e6d-8294-e848e36bd412" providerId="ADAL" clId="{7A3B1D41-68C4-4869-96EE-EA53FCE4CEAE}" dt="2025-05-07T05:44:45.080" v="12" actId="1076"/>
          <ac:spMkLst>
            <pc:docMk/>
            <pc:sldMk cId="2518793654" sldId="279"/>
            <ac:spMk id="3" creationId="{3A4F5D41-C749-FEB5-3A7C-EF0E4DDF8512}"/>
          </ac:spMkLst>
        </pc:spChg>
      </pc:sldChg>
      <pc:sldChg chg="modSp new mod">
        <pc:chgData name="Qian, Kaiyang" userId="b75c2dfd-7087-4e6d-8294-e848e36bd412" providerId="ADAL" clId="{7A3B1D41-68C4-4869-96EE-EA53FCE4CEAE}" dt="2025-05-07T05:48:46.946" v="102" actId="27636"/>
        <pc:sldMkLst>
          <pc:docMk/>
          <pc:sldMk cId="3632487739" sldId="280"/>
        </pc:sldMkLst>
        <pc:spChg chg="mod">
          <ac:chgData name="Qian, Kaiyang" userId="b75c2dfd-7087-4e6d-8294-e848e36bd412" providerId="ADAL" clId="{7A3B1D41-68C4-4869-96EE-EA53FCE4CEAE}" dt="2025-05-07T05:45:28.696" v="13"/>
          <ac:spMkLst>
            <pc:docMk/>
            <pc:sldMk cId="3632487739" sldId="280"/>
            <ac:spMk id="2" creationId="{C23DB881-D011-9994-7F67-C861F406C29C}"/>
          </ac:spMkLst>
        </pc:spChg>
        <pc:spChg chg="mod">
          <ac:chgData name="Qian, Kaiyang" userId="b75c2dfd-7087-4e6d-8294-e848e36bd412" providerId="ADAL" clId="{7A3B1D41-68C4-4869-96EE-EA53FCE4CEAE}" dt="2025-05-07T05:48:46.946" v="102" actId="27636"/>
          <ac:spMkLst>
            <pc:docMk/>
            <pc:sldMk cId="3632487739" sldId="280"/>
            <ac:spMk id="3" creationId="{FF7F64D1-4FCE-0C30-6779-13AA103FF5FE}"/>
          </ac:spMkLst>
        </pc:spChg>
      </pc:sldChg>
      <pc:sldChg chg="addSp delSp modSp new mod">
        <pc:chgData name="Qian, Kaiyang" userId="b75c2dfd-7087-4e6d-8294-e848e36bd412" providerId="ADAL" clId="{7A3B1D41-68C4-4869-96EE-EA53FCE4CEAE}" dt="2025-05-07T05:51:05.561" v="113" actId="478"/>
        <pc:sldMkLst>
          <pc:docMk/>
          <pc:sldMk cId="401000239" sldId="281"/>
        </pc:sldMkLst>
        <pc:spChg chg="mod">
          <ac:chgData name="Qian, Kaiyang" userId="b75c2dfd-7087-4e6d-8294-e848e36bd412" providerId="ADAL" clId="{7A3B1D41-68C4-4869-96EE-EA53FCE4CEAE}" dt="2025-05-07T05:50:36.819" v="109"/>
          <ac:spMkLst>
            <pc:docMk/>
            <pc:sldMk cId="401000239" sldId="281"/>
            <ac:spMk id="2" creationId="{FC376E9A-97DD-264C-E068-6FD9E5ADC77E}"/>
          </ac:spMkLst>
        </pc:spChg>
        <pc:spChg chg="del">
          <ac:chgData name="Qian, Kaiyang" userId="b75c2dfd-7087-4e6d-8294-e848e36bd412" providerId="ADAL" clId="{7A3B1D41-68C4-4869-96EE-EA53FCE4CEAE}" dt="2025-05-07T05:50:13.850" v="105" actId="22"/>
          <ac:spMkLst>
            <pc:docMk/>
            <pc:sldMk cId="401000239" sldId="281"/>
            <ac:spMk id="3" creationId="{324FEDF5-5C01-D524-80F5-D77206B6D1BE}"/>
          </ac:spMkLst>
        </pc:spChg>
        <pc:graphicFrameChg chg="add del mod">
          <ac:chgData name="Qian, Kaiyang" userId="b75c2dfd-7087-4e6d-8294-e848e36bd412" providerId="ADAL" clId="{7A3B1D41-68C4-4869-96EE-EA53FCE4CEAE}" dt="2025-05-07T05:51:05.561" v="113" actId="478"/>
          <ac:graphicFrameMkLst>
            <pc:docMk/>
            <pc:sldMk cId="401000239" sldId="281"/>
            <ac:graphicFrameMk id="6" creationId="{C8C13637-E506-500E-B7B8-0B5F82988F14}"/>
          </ac:graphicFrameMkLst>
        </pc:graphicFrameChg>
        <pc:picChg chg="add mod ord">
          <ac:chgData name="Qian, Kaiyang" userId="b75c2dfd-7087-4e6d-8294-e848e36bd412" providerId="ADAL" clId="{7A3B1D41-68C4-4869-96EE-EA53FCE4CEAE}" dt="2025-05-07T05:50:31.957" v="106" actId="1076"/>
          <ac:picMkLst>
            <pc:docMk/>
            <pc:sldMk cId="401000239" sldId="281"/>
            <ac:picMk id="5" creationId="{F0A300F0-EB0E-1307-814B-9BE4B7DC1616}"/>
          </ac:picMkLst>
        </pc:picChg>
      </pc:sldChg>
      <pc:sldChg chg="addSp delSp modSp new mod">
        <pc:chgData name="Qian, Kaiyang" userId="b75c2dfd-7087-4e6d-8294-e848e36bd412" providerId="ADAL" clId="{7A3B1D41-68C4-4869-96EE-EA53FCE4CEAE}" dt="2025-05-07T05:56:55.714" v="139" actId="1076"/>
        <pc:sldMkLst>
          <pc:docMk/>
          <pc:sldMk cId="1230519368" sldId="282"/>
        </pc:sldMkLst>
        <pc:spChg chg="del mod">
          <ac:chgData name="Qian, Kaiyang" userId="b75c2dfd-7087-4e6d-8294-e848e36bd412" providerId="ADAL" clId="{7A3B1D41-68C4-4869-96EE-EA53FCE4CEAE}" dt="2025-05-07T05:52:18.757" v="123" actId="478"/>
          <ac:spMkLst>
            <pc:docMk/>
            <pc:sldMk cId="1230519368" sldId="282"/>
            <ac:spMk id="2" creationId="{31CD201C-CA9C-DAB7-0B4D-AD660608E4F8}"/>
          </ac:spMkLst>
        </pc:spChg>
        <pc:spChg chg="del">
          <ac:chgData name="Qian, Kaiyang" userId="b75c2dfd-7087-4e6d-8294-e848e36bd412" providerId="ADAL" clId="{7A3B1D41-68C4-4869-96EE-EA53FCE4CEAE}" dt="2025-05-07T05:52:02.906" v="116"/>
          <ac:spMkLst>
            <pc:docMk/>
            <pc:sldMk cId="1230519368" sldId="282"/>
            <ac:spMk id="3" creationId="{8A49DF42-C228-0170-F6F7-375DCAF35B85}"/>
          </ac:spMkLst>
        </pc:spChg>
        <pc:spChg chg="add del mod">
          <ac:chgData name="Qian, Kaiyang" userId="b75c2dfd-7087-4e6d-8294-e848e36bd412" providerId="ADAL" clId="{7A3B1D41-68C4-4869-96EE-EA53FCE4CEAE}" dt="2025-05-07T05:52:20.690" v="124" actId="478"/>
          <ac:spMkLst>
            <pc:docMk/>
            <pc:sldMk cId="1230519368" sldId="282"/>
            <ac:spMk id="7" creationId="{EBE61B2A-E7E4-9F08-3297-7DD8F7928E5A}"/>
          </ac:spMkLst>
        </pc:spChg>
        <pc:spChg chg="add mod">
          <ac:chgData name="Qian, Kaiyang" userId="b75c2dfd-7087-4e6d-8294-e848e36bd412" providerId="ADAL" clId="{7A3B1D41-68C4-4869-96EE-EA53FCE4CEAE}" dt="2025-05-07T05:56:46.925" v="135" actId="478"/>
          <ac:spMkLst>
            <pc:docMk/>
            <pc:sldMk cId="1230519368" sldId="282"/>
            <ac:spMk id="9" creationId="{EDC034DC-B8FB-29D0-2C70-6CA1ABE53622}"/>
          </ac:spMkLst>
        </pc:spChg>
        <pc:picChg chg="add del mod">
          <ac:chgData name="Qian, Kaiyang" userId="b75c2dfd-7087-4e6d-8294-e848e36bd412" providerId="ADAL" clId="{7A3B1D41-68C4-4869-96EE-EA53FCE4CEAE}" dt="2025-05-07T05:56:46.925" v="135" actId="478"/>
          <ac:picMkLst>
            <pc:docMk/>
            <pc:sldMk cId="1230519368" sldId="282"/>
            <ac:picMk id="5" creationId="{E359A4C7-76FE-FE9C-0C7D-57F69E93BB27}"/>
          </ac:picMkLst>
        </pc:picChg>
        <pc:picChg chg="add mod">
          <ac:chgData name="Qian, Kaiyang" userId="b75c2dfd-7087-4e6d-8294-e848e36bd412" providerId="ADAL" clId="{7A3B1D41-68C4-4869-96EE-EA53FCE4CEAE}" dt="2025-05-07T05:56:55.714" v="139" actId="1076"/>
          <ac:picMkLst>
            <pc:docMk/>
            <pc:sldMk cId="1230519368" sldId="282"/>
            <ac:picMk id="11" creationId="{D93CE73A-D881-35E8-2479-2FEF3EF1011A}"/>
          </ac:picMkLst>
        </pc:picChg>
      </pc:sldChg>
      <pc:sldChg chg="addSp modSp new del mod">
        <pc:chgData name="Qian, Kaiyang" userId="b75c2dfd-7087-4e6d-8294-e848e36bd412" providerId="ADAL" clId="{7A3B1D41-68C4-4869-96EE-EA53FCE4CEAE}" dt="2025-05-08T20:00:06.688" v="156" actId="2696"/>
        <pc:sldMkLst>
          <pc:docMk/>
          <pc:sldMk cId="1434493346" sldId="283"/>
        </pc:sldMkLst>
        <pc:picChg chg="add mod">
          <ac:chgData name="Qian, Kaiyang" userId="b75c2dfd-7087-4e6d-8294-e848e36bd412" providerId="ADAL" clId="{7A3B1D41-68C4-4869-96EE-EA53FCE4CEAE}" dt="2025-05-07T05:57:38.409" v="150" actId="14100"/>
          <ac:picMkLst>
            <pc:docMk/>
            <pc:sldMk cId="1434493346" sldId="283"/>
            <ac:picMk id="5" creationId="{1D3890B4-806C-54A6-6964-586A297D5D19}"/>
          </ac:picMkLst>
        </pc:picChg>
      </pc:sldChg>
      <pc:sldChg chg="addSp modSp new del mod">
        <pc:chgData name="Qian, Kaiyang" userId="b75c2dfd-7087-4e6d-8294-e848e36bd412" providerId="ADAL" clId="{7A3B1D41-68C4-4869-96EE-EA53FCE4CEAE}" dt="2025-05-08T19:59:58.883" v="155" actId="2696"/>
        <pc:sldMkLst>
          <pc:docMk/>
          <pc:sldMk cId="3847534353" sldId="284"/>
        </pc:sldMkLst>
        <pc:picChg chg="add mod">
          <ac:chgData name="Qian, Kaiyang" userId="b75c2dfd-7087-4e6d-8294-e848e36bd412" providerId="ADAL" clId="{7A3B1D41-68C4-4869-96EE-EA53FCE4CEAE}" dt="2025-05-07T05:58:01.122" v="154" actId="14100"/>
          <ac:picMkLst>
            <pc:docMk/>
            <pc:sldMk cId="3847534353" sldId="284"/>
            <ac:picMk id="5" creationId="{1431D08C-7BA8-C670-6C44-2C21F0740F6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2ADD4-5419-430E-5F9F-335E75972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CAFCA-0F56-88DF-7CBC-79C99930C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ED25C-4F1F-51E2-02E0-F578381A9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D07DA-6562-4771-B3F9-B7927BEEBC7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0AAF4-3806-58EC-FC73-4F3598C2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7C5C-D08F-A73D-5E12-4F1BBA17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ACAF-B6AD-4BD4-9801-C03DC8FDC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395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9F1B-4700-0246-6AFD-56264845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BDD2E-743C-593D-1771-C59281466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53C13-6E6C-427B-A777-3A554A5B3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D07DA-6562-4771-B3F9-B7927BEEBC7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BD172-4D0D-204C-A5D5-99A0C204B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D5367-8EC6-20D3-2297-D88F27F14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ACAF-B6AD-4BD4-9801-C03DC8FDC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69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8E011-9B85-99C7-B730-D07BA29C0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19748-8AA9-9919-768D-667B3F99A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40C2A-A31D-AFE4-0871-6ACF8C54A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D07DA-6562-4771-B3F9-B7927BEEBC7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07DE9-5BF6-DD4C-D865-CAA298AB8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6D886-4E8E-A492-6D77-19C9FD827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ACAF-B6AD-4BD4-9801-C03DC8FDC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8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DCF19-E6D7-9A61-51D8-334F71A81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5DE28-2EC0-20D7-7684-5330A5E81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35D8C-033B-B5F3-D3AA-CE36B6506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260C2-6316-55B9-316F-601D35CAE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D07DA-6562-4771-B3F9-B7927BEEBC7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D7787-DF87-CDDB-EAF0-6566A1133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8A0CD-E745-4E57-5494-1E30B4A7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ACAF-B6AD-4BD4-9801-C03DC8FDC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5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EA85C-B488-8D7B-6B3F-0FEAA53B4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ECB14-9997-3619-3C94-827ED0A00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47437-DBFF-7917-1309-475E7E0EA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F7E306-A090-C64B-DA3C-84E8F86335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79550-5168-3303-362B-BE705225E5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695C6A-FB14-42B6-E7BA-3C142138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D07DA-6562-4771-B3F9-B7927BEEBC7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E0304B-9B21-5CD0-3A5C-45C01FD5F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55675-CE13-F170-11BA-525D95ECC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ACAF-B6AD-4BD4-9801-C03DC8FDC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945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183CE-B5DA-ED72-43C0-5A11EC89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7C90D7-957A-BAED-E0C3-7035061E8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D07DA-6562-4771-B3F9-B7927BEEBC7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0D874B-8889-FBA9-BD3D-6A6BB03C3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57CFF-78BD-607D-C3CF-3E3B40629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ACAF-B6AD-4BD4-9801-C03DC8FDC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0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ADD7D-BF6C-5A4A-07DD-027DA5DD3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D07DA-6562-4771-B3F9-B7927BEEBC7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798CE8-F2E2-6CF1-F9E4-E5417F088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7D102-5922-2CAB-EEFF-E63943B72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ACAF-B6AD-4BD4-9801-C03DC8FDC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2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6C0AE-BC67-E025-12CE-65F1FA4CB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931A7-7ECB-52AA-D3A9-7DE67B549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4CF52-76F7-9A5F-CD77-DCE18D9DA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43FE4-10BE-7554-18C9-0C9F6AC91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D07DA-6562-4771-B3F9-B7927BEEBC7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B8A52-6EEA-43DE-37C8-F84155867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4FAFC-199F-AB6B-C734-EE6AB77E6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ACAF-B6AD-4BD4-9801-C03DC8FDC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82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167A7-9866-D76B-9485-0C81ED927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61F80A-9769-5391-66EC-0270D951EE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551F2-6A56-F3F1-00EC-365A2577B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5D681-3869-C6A6-D986-5E1A2011B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D07DA-6562-4771-B3F9-B7927BEEBC7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83F70-0875-E407-5121-49EF1939F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82F93-90D9-2349-B943-2FDFE827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ACAF-B6AD-4BD4-9801-C03DC8FDC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98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CA69F-2EA1-7C51-3FB4-6A775AD76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288476-CD58-7D20-57DD-DA5D224C5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97F8A-8073-84C2-9283-999918579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D07DA-6562-4771-B3F9-B7927BEEBC7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10553-FB8C-9181-733D-84B82F5E8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BFAEB-B7DF-E7BF-7C32-292776C42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ACAF-B6AD-4BD4-9801-C03DC8FDC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1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D1EBA3-DF9E-6C9D-673F-D67F5AFC1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3FD68-BF66-9767-6B31-7F21AB023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86C20-F98E-A818-1062-A87AF1C52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D07DA-6562-4771-B3F9-B7927BEEBC7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92D93-3862-95E7-2E01-590600CC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0E129-1462-59DA-0909-E8292D330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1ACAF-B6AD-4BD4-9801-C03DC8FDC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2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283AF-63DD-EF27-747E-B6023056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758C5-476F-AB95-A6CC-D0E20EF6F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28997-61D3-94DC-2A0B-81BD6C3BB6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FD07DA-6562-4771-B3F9-B7927BEEBC7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8279E-1BCC-725B-A1F3-F8C6C4340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BCE5A-0F98-DCA0-8508-D3B8BA71A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D1ACAF-B6AD-4BD4-9801-C03DC8FDC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29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FF197-38AD-399C-2BE5-5A339AFBCB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Weekly Progress Report: Turning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D449D3-848F-0FD6-F980-83D023BB1D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82055" y="4614286"/>
            <a:ext cx="22397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Kaiyang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May 5, 2025 </a:t>
            </a:r>
          </a:p>
        </p:txBody>
      </p:sp>
    </p:spTree>
    <p:extLst>
      <p:ext uri="{BB962C8B-B14F-4D97-AF65-F5344CB8AC3E}">
        <p14:creationId xmlns:p14="http://schemas.microsoft.com/office/powerpoint/2010/main" val="418603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099BF-B726-51EC-1AF9-B99C298F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44190-0C1C-B287-5287-69FFDB873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Overall Goal:</a:t>
            </a:r>
            <a:r>
              <a:rPr lang="en-US" dirty="0"/>
              <a:t> Analyze characteristics of turning movements in Parkinson's Disease (PD) patients compared to Controls using sensor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This Week's Objective (Kaiyang):</a:t>
            </a:r>
            <a:r>
              <a:rPr lang="en-US" dirty="0"/>
              <a:t> Focus on the 'Turning' action using </a:t>
            </a:r>
            <a:r>
              <a:rPr lang="en-US" dirty="0" err="1"/>
              <a:t>keypoint</a:t>
            </a:r>
            <a:r>
              <a:rPr lang="en-US" dirty="0"/>
              <a:t> data from the REMAP dataset. Load and understand the dataset 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Extract relevant kinematic features from skeleton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 initial comparative analyses: PD vs. Control and PD On vs. Off medication.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421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B57CB-FE68-7AB3-B966-169F211DB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connections and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84569-885F-968B-EC75-D0DA1128F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00610"/>
          </a:xfrm>
        </p:spPr>
        <p:txBody>
          <a:bodyPr/>
          <a:lstStyle/>
          <a:p>
            <a:r>
              <a:rPr lang="en-US" dirty="0"/>
              <a:t>connections = [[0, 1], [1, 2], [2, 3], [0, 4], [4, 5],</a:t>
            </a:r>
          </a:p>
          <a:p>
            <a:pPr marL="0" indent="0">
              <a:buNone/>
            </a:pPr>
            <a:r>
              <a:rPr lang="en-US" dirty="0"/>
              <a:t>                 [5, 6], [0, 7], [7, 8], [8, 9], [9, 10],</a:t>
            </a:r>
          </a:p>
          <a:p>
            <a:pPr marL="0" indent="0">
              <a:buNone/>
            </a:pPr>
            <a:r>
              <a:rPr lang="en-US" dirty="0"/>
              <a:t>                 [8, 11], [11, 12], [12, 13], [8, 14], [14, 15], [15, 16]]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ED5A-497B-1D64-190C-0C96EDD7C156}"/>
              </a:ext>
            </a:extLst>
          </p:cNvPr>
          <p:cNvSpPr txBox="1"/>
          <p:nvPr/>
        </p:nvSpPr>
        <p:spPr>
          <a:xfrm>
            <a:off x="2562137" y="3461172"/>
            <a:ext cx="33723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Here is the mapping: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0:</a:t>
            </a:r>
            <a:r>
              <a:rPr lang="en-US" dirty="0"/>
              <a:t> Pelvis / Hip Center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1:</a:t>
            </a:r>
            <a:r>
              <a:rPr lang="en-US" dirty="0"/>
              <a:t> Right Hip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2:</a:t>
            </a:r>
            <a:r>
              <a:rPr lang="en-US" dirty="0"/>
              <a:t> Right Knee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3:</a:t>
            </a:r>
            <a:r>
              <a:rPr lang="en-US" dirty="0"/>
              <a:t> Right Ankle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4:</a:t>
            </a:r>
            <a:r>
              <a:rPr lang="en-US" dirty="0"/>
              <a:t> Left Hip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5:</a:t>
            </a:r>
            <a:r>
              <a:rPr lang="en-US" dirty="0"/>
              <a:t> Left Knee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6:</a:t>
            </a:r>
            <a:r>
              <a:rPr lang="en-US" dirty="0"/>
              <a:t> Left Ankle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7:</a:t>
            </a:r>
            <a:r>
              <a:rPr lang="en-US" dirty="0"/>
              <a:t> Torso / Spine 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8:</a:t>
            </a:r>
            <a:r>
              <a:rPr lang="en-US" dirty="0"/>
              <a:t> Neck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BB819-DDC6-6866-7987-D3353C49D0EF}"/>
              </a:ext>
            </a:extLst>
          </p:cNvPr>
          <p:cNvSpPr txBox="1"/>
          <p:nvPr/>
        </p:nvSpPr>
        <p:spPr>
          <a:xfrm>
            <a:off x="6257488" y="3566720"/>
            <a:ext cx="33723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9:</a:t>
            </a:r>
            <a:r>
              <a:rPr lang="en-US" dirty="0"/>
              <a:t> Nose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10:</a:t>
            </a:r>
            <a:r>
              <a:rPr lang="en-US" dirty="0"/>
              <a:t> Head Top / Site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11:</a:t>
            </a:r>
            <a:r>
              <a:rPr lang="en-US" dirty="0"/>
              <a:t> Left Shoulder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12:</a:t>
            </a:r>
            <a:r>
              <a:rPr lang="en-US" dirty="0"/>
              <a:t> Left Elbow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13:</a:t>
            </a:r>
            <a:r>
              <a:rPr lang="en-US" dirty="0"/>
              <a:t> Left Wrist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14:</a:t>
            </a:r>
            <a:r>
              <a:rPr lang="en-US" dirty="0"/>
              <a:t> Right Shoulder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15:</a:t>
            </a:r>
            <a:r>
              <a:rPr lang="en-US" dirty="0"/>
              <a:t> Right Elbow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Joint 16:</a:t>
            </a:r>
            <a:r>
              <a:rPr lang="en-US" dirty="0"/>
              <a:t> Right Wrist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918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4ADA2-6C0B-5CA9-06E2-A4405271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Feature Engineering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1651D0F4-CDB5-6C31-DF39-C730BF6E3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48" y="2402690"/>
            <a:ext cx="1185895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 Developed Python function (</a:t>
            </a:r>
            <a:r>
              <a:rPr lang="en-US" dirty="0" err="1"/>
              <a:t>calculate_turn_features</a:t>
            </a:r>
            <a:r>
              <a:rPr lang="en-US" dirty="0"/>
              <a:t>) to extract quantitative metrics from the 2D </a:t>
            </a:r>
            <a:r>
              <a:rPr lang="en-US" dirty="0" err="1"/>
              <a:t>keypoint</a:t>
            </a:r>
            <a:r>
              <a:rPr lang="en-US" dirty="0"/>
              <a:t> time series.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Applied function to all 1749 turns.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Features Calculated: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Duration (frames, seconds)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Pelvis (Joint 0) Kinematics: Path Length, Displacement, Avg/Peak Speed, Avg/Peak Acceleration, Avg Jerk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Trunk Rotation (Shoulders 11 &amp; 14): Total Angle (deg/rad), Avg/Peak Angular Velocity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Spatial Extent: Bounding Box Width, Height, Area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444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ECF1-F59C-74EF-FFFC-EFE5D68B8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Features between PD and Control Groups :Number of turns - PD: 963, Control: 786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54A255-AF82-9697-080C-EC7D7CD1A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7434" y="1720763"/>
            <a:ext cx="5476684" cy="4351338"/>
          </a:xfrm>
        </p:spPr>
      </p:pic>
    </p:spTree>
    <p:extLst>
      <p:ext uri="{BB962C8B-B14F-4D97-AF65-F5344CB8AC3E}">
        <p14:creationId xmlns:p14="http://schemas.microsoft.com/office/powerpoint/2010/main" val="368191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31A8F-095E-EF7F-83A8-10C054C6D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1CE7-D327-E4A7-39C7-4ADF85A8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Features between PD and Control Groups :Number of turns - PD: 963, Control: 786</a:t>
            </a:r>
            <a:br>
              <a:rPr lang="en-US" dirty="0"/>
            </a:b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F8AF077-6DAD-1012-913E-3CB79AE692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8377" y="1762873"/>
            <a:ext cx="5292939" cy="4351338"/>
          </a:xfrm>
        </p:spPr>
      </p:pic>
    </p:spTree>
    <p:extLst>
      <p:ext uri="{BB962C8B-B14F-4D97-AF65-F5344CB8AC3E}">
        <p14:creationId xmlns:p14="http://schemas.microsoft.com/office/powerpoint/2010/main" val="389764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A7635-CD1A-59BE-168B-43D903FEC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C8BE-E141-4BDF-9660-FABFA7960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Features between PD and Control Groups :Number of turns - PD: 963, Control: 786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692BEF-3D50-5796-B121-04136A113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0148" y="1690688"/>
            <a:ext cx="5175852" cy="4351338"/>
          </a:xfrm>
        </p:spPr>
      </p:pic>
    </p:spTree>
    <p:extLst>
      <p:ext uri="{BB962C8B-B14F-4D97-AF65-F5344CB8AC3E}">
        <p14:creationId xmlns:p14="http://schemas.microsoft.com/office/powerpoint/2010/main" val="3608158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508B4-D5BC-CF4A-A8FA-44BE85A33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F563-D493-05DB-DFF2-3BD3A0E04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Features between PD and Control Groups :Number of turns - PD: 963, Control: 786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C3C5A7-8ACE-5FDE-8FF0-01E5CB4A0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9825" y="1731495"/>
            <a:ext cx="5046631" cy="4351338"/>
          </a:xfrm>
        </p:spPr>
      </p:pic>
    </p:spTree>
    <p:extLst>
      <p:ext uri="{BB962C8B-B14F-4D97-AF65-F5344CB8AC3E}">
        <p14:creationId xmlns:p14="http://schemas.microsoft.com/office/powerpoint/2010/main" val="2491128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BE885-25E9-3BF2-9C8A-E7F4880DB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61B32-03D9-F917-0484-E2ED3DE6B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Features between PD and Control Groups :Number of turns - PD: 963, Control: 786</a:t>
            </a:r>
            <a:br>
              <a:rPr lang="en-US" dirty="0"/>
            </a:b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DE85254-540B-4B4B-3C4C-C78F4582D6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6222" y="1762872"/>
            <a:ext cx="5225637" cy="4351338"/>
          </a:xfrm>
        </p:spPr>
      </p:pic>
    </p:spTree>
    <p:extLst>
      <p:ext uri="{BB962C8B-B14F-4D97-AF65-F5344CB8AC3E}">
        <p14:creationId xmlns:p14="http://schemas.microsoft.com/office/powerpoint/2010/main" val="1482775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395C8-D3FF-FC7F-40E9-BBECBD5C5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D25A9-1FEF-9A78-EEA9-814119EA3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Features between PD and Control Groups :Number of turns - PD: 963, Control: 786</a:t>
            </a:r>
            <a:br>
              <a:rPr lang="en-US" dirty="0"/>
            </a:b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D62196E-321E-1747-B4EC-E8F901E881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8154" y="1690688"/>
            <a:ext cx="5366491" cy="4351338"/>
          </a:xfrm>
        </p:spPr>
      </p:pic>
    </p:spTree>
    <p:extLst>
      <p:ext uri="{BB962C8B-B14F-4D97-AF65-F5344CB8AC3E}">
        <p14:creationId xmlns:p14="http://schemas.microsoft.com/office/powerpoint/2010/main" val="1040589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41EB6-4168-E617-E2EF-6107090E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665EB-023E-891D-98DA-927DA00C7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Features between PD and Control Groups :Number of turns - PD: 963, Control: 786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1D44877-A920-10D6-655B-E9F9F7880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137" y="1816660"/>
            <a:ext cx="5505677" cy="4351338"/>
          </a:xfrm>
        </p:spPr>
      </p:pic>
    </p:spTree>
    <p:extLst>
      <p:ext uri="{BB962C8B-B14F-4D97-AF65-F5344CB8AC3E}">
        <p14:creationId xmlns:p14="http://schemas.microsoft.com/office/powerpoint/2010/main" val="535138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CAFAF-FCA5-BA79-02DC-9E483371A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D7484-EFB2-66E6-B660-8857137D0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Features between PD and Control Groups :Number of turns - PD: 963, Control: 786</a:t>
            </a:r>
            <a:br>
              <a:rPr lang="en-US" dirty="0"/>
            </a:b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0F69CB-E631-CA7C-42D8-81D6144C8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6737" y="1825625"/>
            <a:ext cx="5313467" cy="4351338"/>
          </a:xfrm>
        </p:spPr>
      </p:pic>
    </p:spTree>
    <p:extLst>
      <p:ext uri="{BB962C8B-B14F-4D97-AF65-F5344CB8AC3E}">
        <p14:creationId xmlns:p14="http://schemas.microsoft.com/office/powerpoint/2010/main" val="2380729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526F4-3431-4F03-CB31-3897336D6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 of Findings (PD vs. Control)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78850-F625-1425-8861-692DD2000D6D}"/>
              </a:ext>
            </a:extLst>
          </p:cNvPr>
          <p:cNvSpPr txBox="1"/>
          <p:nvPr/>
        </p:nvSpPr>
        <p:spPr>
          <a:xfrm>
            <a:off x="801149" y="1770077"/>
            <a:ext cx="107924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the Mann-Whitney U tests (and assuming the box plots visually support the direction of difference):</a:t>
            </a:r>
          </a:p>
          <a:p>
            <a:r>
              <a:rPr lang="en-US" dirty="0"/>
              <a:t>Significant Differences (p &lt; 0.05):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duration_sec: PD group likely takes longer to turn.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pelvis_avg_speed</a:t>
            </a:r>
            <a:r>
              <a:rPr lang="en-US" dirty="0"/>
              <a:t>, </a:t>
            </a:r>
            <a:r>
              <a:rPr lang="en-US" dirty="0" err="1"/>
              <a:t>pelvis_peak_speed</a:t>
            </a:r>
            <a:r>
              <a:rPr lang="en-US" dirty="0"/>
              <a:t>: PD group likely moves slower overall during the turn.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pelvis_avg_jerk_mag</a:t>
            </a:r>
            <a:r>
              <a:rPr lang="en-US" dirty="0"/>
              <a:t>: PD group likely has less smooth pelvic movement (higher jerk usually means less smooth, check box plot direction).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trunk_avg_ang_vel</a:t>
            </a:r>
            <a:r>
              <a:rPr lang="en-US" dirty="0"/>
              <a:t>, </a:t>
            </a:r>
            <a:r>
              <a:rPr lang="en-US" dirty="0" err="1"/>
              <a:t>trunk_peak_ang_vel</a:t>
            </a:r>
            <a:r>
              <a:rPr lang="en-US" dirty="0"/>
              <a:t>: PD group likely rotates their trunk slower.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number_of_turning_steps</a:t>
            </a:r>
            <a:r>
              <a:rPr lang="en-US" dirty="0"/>
              <a:t>: PD group likely uses a different number of steps (probably more, check box plot).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110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14ADC-17F0-E3AA-9156-10817748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the effect of medication within the PD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CD97E-9802-B79D-99E2-2F6AD7A3A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will help us understand which aspects of turning performance are potentially improved by medication in this cohort.</a:t>
            </a:r>
          </a:p>
        </p:txBody>
      </p:sp>
    </p:spTree>
    <p:extLst>
      <p:ext uri="{BB962C8B-B14F-4D97-AF65-F5344CB8AC3E}">
        <p14:creationId xmlns:p14="http://schemas.microsoft.com/office/powerpoint/2010/main" val="3928326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37FD-519F-31A6-070D-D9146952E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Features between PD 'On' and 'Off' Medication States-Number of turns - PD On: 748, PD Off: 214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1D346B-C11F-750B-A048-7B87DBCF2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2461" y="1880154"/>
            <a:ext cx="5300125" cy="4351338"/>
          </a:xfrm>
        </p:spPr>
      </p:pic>
    </p:spTree>
    <p:extLst>
      <p:ext uri="{BB962C8B-B14F-4D97-AF65-F5344CB8AC3E}">
        <p14:creationId xmlns:p14="http://schemas.microsoft.com/office/powerpoint/2010/main" val="6960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3194F-C5CF-E869-3269-85AB4B45E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Features between PD 'On' and 'Off' Medication States-Number of turns - PD On: 748, PD Off: 214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AC2A56-7F88-E906-2755-E4B64E099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5320"/>
            <a:ext cx="5422014" cy="4351338"/>
          </a:xfrm>
        </p:spPr>
      </p:pic>
    </p:spTree>
    <p:extLst>
      <p:ext uri="{BB962C8B-B14F-4D97-AF65-F5344CB8AC3E}">
        <p14:creationId xmlns:p14="http://schemas.microsoft.com/office/powerpoint/2010/main" val="1169228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B4297-CC98-DF76-EC10-476E5BB98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6C88F-C913-7D6A-0B13-3A939644E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Features between PD 'On' and 'Off' Medication States-Number of turns - PD On: 748, PD Off: 214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B8E08A1-D980-3AE4-F472-369D8643AF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2099"/>
            <a:ext cx="5386275" cy="4351338"/>
          </a:xfrm>
        </p:spPr>
      </p:pic>
    </p:spTree>
    <p:extLst>
      <p:ext uri="{BB962C8B-B14F-4D97-AF65-F5344CB8AC3E}">
        <p14:creationId xmlns:p14="http://schemas.microsoft.com/office/powerpoint/2010/main" val="3892363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D4B6-E3EA-9DD4-CAA0-18E4721E3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6FE4-F9A1-FAEB-8F3A-ED5CB010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Features between PD 'On' and 'Off' Medication States-Number of turns - PD On: 748, PD Off: 214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6D68D0-174C-F135-BAC1-CE137233CA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9588" y="1821430"/>
            <a:ext cx="5314264" cy="4351338"/>
          </a:xfrm>
        </p:spPr>
      </p:pic>
    </p:spTree>
    <p:extLst>
      <p:ext uri="{BB962C8B-B14F-4D97-AF65-F5344CB8AC3E}">
        <p14:creationId xmlns:p14="http://schemas.microsoft.com/office/powerpoint/2010/main" val="40934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D7001-84ED-5A08-A8F2-686DA1CBE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C5F4-D05B-E78B-FBD2-834C00F5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Features between PD 'On' and 'Off' Medication States-Number of turns - PD On: 748, PD Off: 214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A18B610-C017-7EA4-9C5C-563BE7B20D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1381" y="1943071"/>
            <a:ext cx="5619123" cy="4351338"/>
          </a:xfrm>
        </p:spPr>
      </p:pic>
    </p:spTree>
    <p:extLst>
      <p:ext uri="{BB962C8B-B14F-4D97-AF65-F5344CB8AC3E}">
        <p14:creationId xmlns:p14="http://schemas.microsoft.com/office/powerpoint/2010/main" val="2135396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4B81C-4CFE-DE55-F485-9FB0C00C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51DA7-6ED7-D3B6-53D0-DC1F789BB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Features between PD 'On' and 'Off' Medication States-Number of turns - PD On: 748, PD Off: 214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6BF94E9-AB7B-45EB-3007-EA9217FF0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0409" y="1896931"/>
            <a:ext cx="5344230" cy="4351338"/>
          </a:xfrm>
        </p:spPr>
      </p:pic>
    </p:spTree>
    <p:extLst>
      <p:ext uri="{BB962C8B-B14F-4D97-AF65-F5344CB8AC3E}">
        <p14:creationId xmlns:p14="http://schemas.microsoft.com/office/powerpoint/2010/main" val="2016137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8CBCC-358E-C5E2-B8FE-774C08480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6045-DD1B-331E-8A1E-57DBDCD2B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Features between PD 'On' and 'Off' Medication States-Number of turns - PD On: 748, PD Off: 214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5B95230-CC6E-C6CB-42E7-83F7D8D80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4725" y="1955654"/>
            <a:ext cx="5313653" cy="4351338"/>
          </a:xfrm>
        </p:spPr>
      </p:pic>
    </p:spTree>
    <p:extLst>
      <p:ext uri="{BB962C8B-B14F-4D97-AF65-F5344CB8AC3E}">
        <p14:creationId xmlns:p14="http://schemas.microsoft.com/office/powerpoint/2010/main" val="353759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8308F-D7A9-EB6D-B86B-EFDA192D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34DC-A5F6-9F43-38A1-B64A15207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Features between PD 'On' and 'Off' Medication States-Number of turns - PD On: 748, PD Off: 214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36311D-F83A-9EB3-9E5A-2E5D173C4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8898" y="1947265"/>
            <a:ext cx="5634424" cy="4351338"/>
          </a:xfrm>
        </p:spPr>
      </p:pic>
    </p:spTree>
    <p:extLst>
      <p:ext uri="{BB962C8B-B14F-4D97-AF65-F5344CB8AC3E}">
        <p14:creationId xmlns:p14="http://schemas.microsoft.com/office/powerpoint/2010/main" val="4066690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CF42B-5AFA-1A74-4457-B4F3FC9BE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Findings (PD On vs. Off Medication)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53C3E1-9CF4-3954-7F66-383C2E3D29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1633"/>
            <a:ext cx="1113708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 Differences (p &lt; 0.05):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Medication state appears to significantly affect: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 err="1"/>
              <a:t>pelvis_peak_speed</a:t>
            </a:r>
            <a:r>
              <a:rPr lang="en-US" altLang="en-US" sz="1800" dirty="0"/>
              <a:t>: How fast the pelvis reaches its maximum speed during the turn.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 err="1"/>
              <a:t>trunk_total_rotation_deg</a:t>
            </a:r>
            <a:r>
              <a:rPr lang="en-US" altLang="en-US" sz="1800" dirty="0"/>
              <a:t>: The total amount the trunk rotates.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 err="1"/>
              <a:t>trunk_avg_ang_vel</a:t>
            </a:r>
            <a:r>
              <a:rPr lang="en-US" altLang="en-US" sz="1800" dirty="0"/>
              <a:t> &amp; </a:t>
            </a:r>
            <a:r>
              <a:rPr lang="en-US" altLang="en-US" sz="1800" dirty="0" err="1"/>
              <a:t>trunk_peak_ang_vel</a:t>
            </a:r>
            <a:r>
              <a:rPr lang="en-US" altLang="en-US" sz="1800" dirty="0"/>
              <a:t>: The speed of trunk rotation.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 err="1"/>
              <a:t>number_of_turning_steps</a:t>
            </a:r>
            <a:r>
              <a:rPr lang="en-US" altLang="en-US" sz="1800" dirty="0"/>
              <a:t>: The stepping strategy used.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No Significant Difference (p &gt;= 0.05):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Medication state did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a statistically significant difference in: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/>
              <a:t>duration_sec: The overall time taken for the turn.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 err="1"/>
              <a:t>pelvis_avg_speed</a:t>
            </a:r>
            <a:r>
              <a:rPr lang="en-US" altLang="en-US" sz="1800" dirty="0"/>
              <a:t>: The average speed of the pelvis throughout the turn.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 err="1"/>
              <a:t>pelvis_avg_jerk_mag</a:t>
            </a:r>
            <a:r>
              <a:rPr lang="en-US" altLang="en-US" sz="1800" dirty="0"/>
              <a:t>: The average smoothness (jerk) of the pelvis movement.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723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327E3-101B-2CA1-7E8D-4F8C5A7F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Data Generation for Parkinson's Disease Turning Movement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F5D41-C749-FEB5-3A7C-EF0E4DDF8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397" y="2546058"/>
            <a:ext cx="10435206" cy="32492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Augmenting </a:t>
            </a:r>
            <a:r>
              <a:rPr lang="en-US" dirty="0" err="1"/>
              <a:t>Keypoint</a:t>
            </a:r>
            <a:r>
              <a:rPr lang="en-US" dirty="0"/>
              <a:t> Trajectory Datasets</a:t>
            </a:r>
          </a:p>
          <a:p>
            <a:r>
              <a:rPr lang="en-US" dirty="0"/>
              <a:t>Data Used in this Project:** * 2D </a:t>
            </a:r>
            <a:r>
              <a:rPr lang="en-US" dirty="0" err="1"/>
              <a:t>keypoint</a:t>
            </a:r>
            <a:r>
              <a:rPr lang="en-US" dirty="0"/>
              <a:t> data from turning episodes. * Focus on a single representative sample for initial augmentation (`Pt204_C_n_350/input_2D/keypoints.csv`).</a:t>
            </a:r>
          </a:p>
          <a:p>
            <a:r>
              <a:rPr lang="en-US" dirty="0" err="1"/>
              <a:t>Keypoint</a:t>
            </a:r>
            <a:r>
              <a:rPr lang="en-US" dirty="0"/>
              <a:t> Data Structure (`keypoints.csv`):** * Each row: A single frame of the turning movement. * Each pair of columns: X, Y coordinates for one of the 17 tracked body joints. * Example: (91 frames, 34 features/coordinates).</a:t>
            </a:r>
          </a:p>
        </p:txBody>
      </p:sp>
    </p:spTree>
    <p:extLst>
      <p:ext uri="{BB962C8B-B14F-4D97-AF65-F5344CB8AC3E}">
        <p14:creationId xmlns:p14="http://schemas.microsoft.com/office/powerpoint/2010/main" val="2518793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DB881-D011-9994-7F67-C861F406C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- Data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F64D1-4FCE-0C30-6779-13AA103FF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Approach Chosen: Time series data augmentation. </a:t>
            </a:r>
          </a:p>
          <a:p>
            <a:r>
              <a:rPr lang="en-US" dirty="0"/>
              <a:t>Python Library Used:`</a:t>
            </a:r>
            <a:r>
              <a:rPr lang="en-US" dirty="0" err="1"/>
              <a:t>tsaug</a:t>
            </a:r>
            <a:r>
              <a:rPr lang="en-US" dirty="0"/>
              <a:t>`  A library specifically designed for time series augmentation. </a:t>
            </a:r>
          </a:p>
          <a:p>
            <a:r>
              <a:rPr lang="en-US" dirty="0"/>
              <a:t>Augmentation Techniques Applied:</a:t>
            </a:r>
          </a:p>
          <a:p>
            <a:pPr lvl="1"/>
            <a:r>
              <a:rPr lang="en-US" dirty="0"/>
              <a:t>Jittering (Noise Addition):`</a:t>
            </a:r>
            <a:r>
              <a:rPr lang="en-US" dirty="0" err="1"/>
              <a:t>tsaug.AddNoise</a:t>
            </a:r>
            <a:r>
              <a:rPr lang="en-US" dirty="0"/>
              <a:t>(scale=JITTER_SCALE)` </a:t>
            </a:r>
          </a:p>
          <a:p>
            <a:pPr lvl="2"/>
            <a:r>
              <a:rPr lang="en-US" dirty="0"/>
              <a:t>Adds small random values to </a:t>
            </a:r>
            <a:r>
              <a:rPr lang="en-US" dirty="0" err="1"/>
              <a:t>keypoint</a:t>
            </a:r>
            <a:r>
              <a:rPr lang="en-US" dirty="0"/>
              <a:t> coordinates in each frame. </a:t>
            </a:r>
          </a:p>
          <a:p>
            <a:pPr lvl="2"/>
            <a:r>
              <a:rPr lang="en-US" dirty="0"/>
              <a:t>Simulates minor variations or sensor noise. </a:t>
            </a:r>
          </a:p>
          <a:p>
            <a:pPr lvl="1"/>
            <a:r>
              <a:rPr lang="en-US" dirty="0" err="1"/>
              <a:t>TimeWarping</a:t>
            </a:r>
            <a:r>
              <a:rPr lang="en-US" dirty="0"/>
              <a:t>:`</a:t>
            </a:r>
            <a:r>
              <a:rPr lang="en-US" dirty="0" err="1"/>
              <a:t>tsaug.TimeWarp</a:t>
            </a:r>
            <a:r>
              <a:rPr lang="en-US" dirty="0"/>
              <a:t>(</a:t>
            </a:r>
            <a:r>
              <a:rPr lang="en-US" dirty="0" err="1"/>
              <a:t>n_speed_change</a:t>
            </a:r>
            <a:r>
              <a:rPr lang="en-US" dirty="0"/>
              <a:t>=TIME_WARP_N_SPEED_CHANGE)` </a:t>
            </a:r>
          </a:p>
          <a:p>
            <a:pPr lvl="2"/>
            <a:r>
              <a:rPr lang="en-US" dirty="0"/>
              <a:t> Stretches or compresses segments of the time axis. </a:t>
            </a:r>
          </a:p>
          <a:p>
            <a:pPr lvl="2"/>
            <a:r>
              <a:rPr lang="en-US" dirty="0"/>
              <a:t> Simulates variations in the speed of movement execution. </a:t>
            </a:r>
          </a:p>
          <a:p>
            <a:r>
              <a:rPr lang="en-US" dirty="0"/>
              <a:t>Process Overview:</a:t>
            </a:r>
          </a:p>
          <a:p>
            <a:pPr lvl="1"/>
            <a:r>
              <a:rPr lang="en-US" dirty="0"/>
              <a:t>1. Load original </a:t>
            </a:r>
            <a:r>
              <a:rPr lang="en-US" dirty="0" err="1"/>
              <a:t>keypoint</a:t>
            </a:r>
            <a:r>
              <a:rPr lang="en-US" dirty="0"/>
              <a:t> sequence.</a:t>
            </a:r>
          </a:p>
          <a:p>
            <a:pPr lvl="1"/>
            <a:r>
              <a:rPr lang="en-US" dirty="0"/>
              <a:t>2. Define an augmentation pipeline combining the chosen techniques. </a:t>
            </a:r>
          </a:p>
          <a:p>
            <a:pPr lvl="1"/>
            <a:r>
              <a:rPr lang="en-US" dirty="0"/>
              <a:t>3. Apply the pipeline multiple times to the original sequence to generate synthetic samples. </a:t>
            </a:r>
          </a:p>
          <a:p>
            <a:pPr lvl="1"/>
            <a:r>
              <a:rPr lang="en-US" dirty="0"/>
              <a:t>4. Save each synthetic sample. </a:t>
            </a:r>
          </a:p>
        </p:txBody>
      </p:sp>
    </p:spTree>
    <p:extLst>
      <p:ext uri="{BB962C8B-B14F-4D97-AF65-F5344CB8AC3E}">
        <p14:creationId xmlns:p14="http://schemas.microsoft.com/office/powerpoint/2010/main" val="3632487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76E9A-97DD-264C-E068-6FD9E5ADC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Data Generation – Examples: Pt204_C_n_350/input_2D/keypoints.csv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A300F0-EB0E-1307-814B-9BE4B7DC16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4400" y="2040778"/>
            <a:ext cx="9430823" cy="4351338"/>
          </a:xfrm>
        </p:spPr>
      </p:pic>
    </p:spTree>
    <p:extLst>
      <p:ext uri="{BB962C8B-B14F-4D97-AF65-F5344CB8AC3E}">
        <p14:creationId xmlns:p14="http://schemas.microsoft.com/office/powerpoint/2010/main" val="401000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DC034DC-B8FB-29D0-2C70-6CA1ABE53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3CE73A-D881-35E8-2479-2FEF3EF10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6" y="0"/>
            <a:ext cx="12113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519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1331</Words>
  <Application>Microsoft Office PowerPoint</Application>
  <PresentationFormat>Widescreen</PresentationFormat>
  <Paragraphs>99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Weekly Progress Report: Turning Analysis</vt:lpstr>
      <vt:lpstr>Introduction &amp; Objectives</vt:lpstr>
      <vt:lpstr>Joint connections and Mapping</vt:lpstr>
      <vt:lpstr>Methodology: Feature Engineering</vt:lpstr>
      <vt:lpstr>Comparing Features between PD and Control Groups :Number of turns - PD: 963, Control: 786 </vt:lpstr>
      <vt:lpstr>Comparing Features between PD and Control Groups :Number of turns - PD: 963, Control: 786 </vt:lpstr>
      <vt:lpstr>Comparing Features between PD and Control Groups :Number of turns - PD: 963, Control: 786 </vt:lpstr>
      <vt:lpstr>Comparing Features between PD and Control Groups :Number of turns - PD: 963, Control: 786 </vt:lpstr>
      <vt:lpstr>Comparing Features between PD and Control Groups :Number of turns - PD: 963, Control: 786 </vt:lpstr>
      <vt:lpstr>Comparing Features between PD and Control Groups :Number of turns - PD: 963, Control: 786 </vt:lpstr>
      <vt:lpstr>Comparing Features between PD and Control Groups :Number of turns - PD: 963, Control: 786 </vt:lpstr>
      <vt:lpstr>Comparing Features between PD and Control Groups :Number of turns - PD: 963, Control: 786 </vt:lpstr>
      <vt:lpstr>Summary of Findings (PD vs. Control)</vt:lpstr>
      <vt:lpstr>Analyze the effect of medication within the PD group</vt:lpstr>
      <vt:lpstr>Comparing Features between PD 'On' and 'Off' Medication States-Number of turns - PD On: 748, PD Off: 214</vt:lpstr>
      <vt:lpstr>Comparing Features between PD 'On' and 'Off' Medication States-Number of turns - PD On: 748, PD Off: 214</vt:lpstr>
      <vt:lpstr>Comparing Features between PD 'On' and 'Off' Medication States-Number of turns - PD On: 748, PD Off: 214</vt:lpstr>
      <vt:lpstr>Comparing Features between PD 'On' and 'Off' Medication States-Number of turns - PD On: 748, PD Off: 214</vt:lpstr>
      <vt:lpstr>Comparing Features between PD 'On' and 'Off' Medication States-Number of turns - PD On: 748, PD Off: 214</vt:lpstr>
      <vt:lpstr>Comparing Features between PD 'On' and 'Off' Medication States-Number of turns - PD On: 748, PD Off: 214</vt:lpstr>
      <vt:lpstr>Comparing Features between PD 'On' and 'Off' Medication States-Number of turns - PD On: 748, PD Off: 214</vt:lpstr>
      <vt:lpstr>Comparing Features between PD 'On' and 'Off' Medication States-Number of turns - PD On: 748, PD Off: 214</vt:lpstr>
      <vt:lpstr>Summary of Findings (PD On vs. Off Medication)</vt:lpstr>
      <vt:lpstr>Synthetic Data Generation for Parkinson's Disease Turning Movement Analysis</vt:lpstr>
      <vt:lpstr>Methodology - Data Augmentation</vt:lpstr>
      <vt:lpstr>Synthetic Data Generation – Examples: Pt204_C_n_350/input_2D/keypoints.csv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Qian, Kaiyang</dc:creator>
  <cp:lastModifiedBy>Qian, Kaiyang</cp:lastModifiedBy>
  <cp:revision>2</cp:revision>
  <dcterms:created xsi:type="dcterms:W3CDTF">2025-05-06T04:43:29Z</dcterms:created>
  <dcterms:modified xsi:type="dcterms:W3CDTF">2025-06-26T13:47:49Z</dcterms:modified>
</cp:coreProperties>
</file>