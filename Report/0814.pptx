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8" r:id="rId5"/>
    <p:sldId id="262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8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E53DFDB7-3F2B-4A7B-A399-369D1EE68F4F}"/>
    <pc:docChg chg="modSld">
      <pc:chgData name="Qian, Kaiyang" userId="b75c2dfd-7087-4e6d-8294-e848e36bd412" providerId="ADAL" clId="{E53DFDB7-3F2B-4A7B-A399-369D1EE68F4F}" dt="2025-10-22T01:45:30.389" v="2" actId="1076"/>
      <pc:docMkLst>
        <pc:docMk/>
      </pc:docMkLst>
      <pc:sldChg chg="modSp mod">
        <pc:chgData name="Qian, Kaiyang" userId="b75c2dfd-7087-4e6d-8294-e848e36bd412" providerId="ADAL" clId="{E53DFDB7-3F2B-4A7B-A399-369D1EE68F4F}" dt="2025-10-22T01:45:30.389" v="2" actId="1076"/>
        <pc:sldMkLst>
          <pc:docMk/>
          <pc:sldMk cId="3382727874" sldId="260"/>
        </pc:sldMkLst>
        <pc:picChg chg="mod">
          <ac:chgData name="Qian, Kaiyang" userId="b75c2dfd-7087-4e6d-8294-e848e36bd412" providerId="ADAL" clId="{E53DFDB7-3F2B-4A7B-A399-369D1EE68F4F}" dt="2025-10-22T01:45:30.389" v="2" actId="1076"/>
          <ac:picMkLst>
            <pc:docMk/>
            <pc:sldMk cId="3382727874" sldId="260"/>
            <ac:picMk id="5" creationId="{D1A70828-1B3C-E2D4-F511-1FE7CA48AD3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DE2D4-28A8-773A-0E7A-B592CD19A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72711-2953-48EB-046A-84CB8A4DA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9F6E2-880E-E12F-2A31-131D06876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41800-3BE8-FD12-3272-01214EF0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273FD-9509-5BEB-2E1A-EF3BCB7E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9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C913-D0FB-97EE-F0B7-C5D416DC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DF99B-44FA-0775-8F07-F6B915DB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E8935-E4CC-93B0-635C-A5627B47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F450E-F289-3AFE-4B50-FA63980D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8F812-091E-BE49-9E33-5F995209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429E-8E4C-A705-6648-C00D8341D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83935-E643-8623-6809-D92D8B2D4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44811-F9CC-E70F-3556-C6C704F33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BF2D5-F4F8-A00F-7753-8AEAE72E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ECDAA-DBC2-9007-15CA-6B6DD9A0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8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4519-531A-65D4-A19C-ED4364B1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D0626-52D3-FADB-456D-46EE00845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9E382-7A00-9C83-2DA9-2DC2DB59A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7CFB3-475A-E7B4-B90C-03062882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29864-1A42-09CE-750A-8A4BF715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AFD16-B25B-8AB9-9840-B8C57FBA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4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D491-11A5-9BBD-F082-581062A3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2560B-07A9-0E99-A25F-16A35A62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84B9D-A2B0-78D5-16A1-A6AB3C9B6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536D1-516F-53DD-FF40-E6F70991F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34E17-B9D0-DE10-447F-78F77DB9A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7B7A0-B07C-D87A-F4FA-E7A7A552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F37D86-D44D-5379-7F79-BDE0D436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81DE30-0817-A468-DDA2-CA90A0E0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7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80E5F-DBB0-4B24-E6FF-FB1353C0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D35922-9C5D-BBE6-2E29-2F39B75F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CF5C6-1F51-F46D-72B5-D48F2701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CCD42-53B9-3CEA-3EE4-1D7009AA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68B83-27FE-F175-C8FF-7BA3583C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407BB-D9ED-6A4F-D65F-99258962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76873-F230-EEDB-128F-F05F2FC3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1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F84B-B7D9-7AF3-57F6-FDC421F6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4ED35-5D35-FB8C-D6DA-0C19F9849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BB8AB-20AD-08B9-9F01-919C21591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921A6-4CA2-6832-F0F2-0E32CEEF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AFEF2-2C66-55F7-9A53-D32B35C3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34062-78A3-25B8-6BFB-E29C0B39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3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25AA-B5DE-7BC3-163A-405DB746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6A42E8-53D9-A847-E83C-0275AC1FC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40EE0-BC6B-5A36-8050-57085D36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AD209-0063-3BA0-60DA-7EF9CAEF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4BF23-B90A-C365-135D-EAE36480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53CF6-D818-4BCA-E9B4-49A58E3A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9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3FD1-9639-CC7C-CF51-AE90BC9F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8462C-C853-9615-8516-79902009F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04233-51E0-427F-3E78-4E8376EA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F9EC8-5A2B-51D3-AC6E-6D4EA975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06169-C466-D7F4-7FEE-22592356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50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79E56-6498-DF5E-0F0E-003751B98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69C41-1165-AB36-57CC-CD1BCDDEB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A320-C71A-B274-3DF1-C169A2F2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16B34-A9F2-39D8-0C26-12316839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09C9E-034B-69C1-6DFD-8F37B006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2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1A49DF-DA8C-47A2-E44F-7FD347D4E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9D49E-CD2E-867E-1F2E-DDBF17343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C60CF-F7D6-5426-087E-1029A92F4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EFE75-C5B2-40B1-AD00-64492B14A03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6D1DC-53B5-9554-D61E-A8DB4F684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4F743-1BA8-FA11-6C82-41805220C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8E087-CCA2-452F-A5A5-1DE138E05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6A05-F6C7-949F-7043-BA1FABF56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08/14</a:t>
            </a:r>
          </a:p>
        </p:txBody>
      </p:sp>
    </p:spTree>
    <p:extLst>
      <p:ext uri="{BB962C8B-B14F-4D97-AF65-F5344CB8AC3E}">
        <p14:creationId xmlns:p14="http://schemas.microsoft.com/office/powerpoint/2010/main" val="188716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2620-C62B-89DC-AD27-73425A8ED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8441A-1D00-70D9-945A-746CFC409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previous attempt, the generated turning data did not distinguish between different types of turns or between PD and healthy participants; all key point data were simply combined into one model, resulting in outputs that were not very meaningful.</a:t>
            </a:r>
          </a:p>
          <a:p>
            <a:r>
              <a:rPr lang="en-US" dirty="0"/>
              <a:t>This time, we split the data into separate groups — for example, training a model using only PD 90° pivot turning data — so that each model corresponds to a specific scenario.</a:t>
            </a:r>
          </a:p>
          <a:p>
            <a:r>
              <a:rPr lang="en-US" dirty="0"/>
              <a:t>Next, we can try plotting the generated data to evaluate whether this approach produces useful results.</a:t>
            </a:r>
          </a:p>
        </p:txBody>
      </p:sp>
    </p:spTree>
    <p:extLst>
      <p:ext uri="{BB962C8B-B14F-4D97-AF65-F5344CB8AC3E}">
        <p14:creationId xmlns:p14="http://schemas.microsoft.com/office/powerpoint/2010/main" val="284311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B11F-6A09-5393-326A-AC336FA8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79" y="213153"/>
            <a:ext cx="10515600" cy="1325563"/>
          </a:xfrm>
        </p:spPr>
        <p:txBody>
          <a:bodyPr/>
          <a:lstStyle/>
          <a:p>
            <a:r>
              <a:rPr lang="en-US" b="1" dirty="0"/>
              <a:t>examples</a:t>
            </a:r>
            <a:endParaRPr lang="en-US" dirty="0"/>
          </a:p>
        </p:txBody>
      </p:sp>
      <p:pic>
        <p:nvPicPr>
          <p:cNvPr id="5" name="Content Placeholder 4" descr="A diagram of a person's body&#10;&#10;AI-generated content may be incorrect.">
            <a:extLst>
              <a:ext uri="{FF2B5EF4-FFF2-40B4-BE49-F238E27FC236}">
                <a16:creationId xmlns:a16="http://schemas.microsoft.com/office/drawing/2014/main" id="{D1A70828-1B3C-E2D4-F511-1FE7CA48A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3" y="2251330"/>
            <a:ext cx="4628533" cy="4628533"/>
          </a:xfrm>
        </p:spPr>
      </p:pic>
      <p:pic>
        <p:nvPicPr>
          <p:cNvPr id="7" name="Picture 6" descr="A diagram of a skeleton&#10;&#10;AI-generated content may be incorrect.">
            <a:extLst>
              <a:ext uri="{FF2B5EF4-FFF2-40B4-BE49-F238E27FC236}">
                <a16:creationId xmlns:a16="http://schemas.microsoft.com/office/drawing/2014/main" id="{2F1BF9AD-794A-FA73-86C2-325B49264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801" y="2251330"/>
            <a:ext cx="4393516" cy="43935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448A90-29A8-8BC8-D07C-8AC1376D86BB}"/>
              </a:ext>
            </a:extLst>
          </p:cNvPr>
          <p:cNvSpPr txBox="1"/>
          <p:nvPr/>
        </p:nvSpPr>
        <p:spPr>
          <a:xfrm>
            <a:off x="1068897" y="1680996"/>
            <a:ext cx="3343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 135_degrees   </a:t>
            </a:r>
            <a:r>
              <a:rPr lang="en-US" dirty="0" err="1"/>
              <a:t>pivot_turn</a:t>
            </a:r>
            <a:br>
              <a:rPr lang="en-US" dirty="0"/>
            </a:br>
            <a:r>
              <a:rPr lang="en-US" b="1" dirty="0"/>
              <a:t>Data Augmentation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B3C162-7C93-4E48-9489-FE7AC6FBBD19}"/>
              </a:ext>
            </a:extLst>
          </p:cNvPr>
          <p:cNvSpPr txBox="1"/>
          <p:nvPr/>
        </p:nvSpPr>
        <p:spPr>
          <a:xfrm>
            <a:off x="7553238" y="1680996"/>
            <a:ext cx="3199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PD', '90_degrees', '</a:t>
            </a:r>
            <a:r>
              <a:rPr lang="en-US" dirty="0" err="1"/>
              <a:t>pivot_turn</a:t>
            </a:r>
            <a:br>
              <a:rPr lang="en-US" dirty="0"/>
            </a:br>
            <a:r>
              <a:rPr lang="en-US" dirty="0"/>
              <a:t>Transformer-VAE</a:t>
            </a:r>
          </a:p>
        </p:txBody>
      </p:sp>
    </p:spTree>
    <p:extLst>
      <p:ext uri="{BB962C8B-B14F-4D97-AF65-F5344CB8AC3E}">
        <p14:creationId xmlns:p14="http://schemas.microsoft.com/office/powerpoint/2010/main" val="338272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46F0-FFB2-890C-D784-0E891B6B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Transformer-VAE  data generation</a:t>
            </a:r>
          </a:p>
        </p:txBody>
      </p:sp>
      <p:pic>
        <p:nvPicPr>
          <p:cNvPr id="5" name="Content Placeholder 4" descr="A diagram of a human body&#10;&#10;AI-generated content may be incorrect.">
            <a:extLst>
              <a:ext uri="{FF2B5EF4-FFF2-40B4-BE49-F238E27FC236}">
                <a16:creationId xmlns:a16="http://schemas.microsoft.com/office/drawing/2014/main" id="{05C4BB90-E3CC-ED2E-E1E9-D3DAB6F55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3" y="2089878"/>
            <a:ext cx="4351338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E69623-08F5-8436-523B-B18FF1D0B5B5}"/>
              </a:ext>
            </a:extLst>
          </p:cNvPr>
          <p:cNvSpPr txBox="1"/>
          <p:nvPr/>
        </p:nvSpPr>
        <p:spPr>
          <a:xfrm>
            <a:off x="1114687" y="1751094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'PD', '180_degrees', '</a:t>
            </a:r>
            <a:r>
              <a:rPr lang="en-US" dirty="0" err="1"/>
              <a:t>pivot_turn</a:t>
            </a:r>
            <a:r>
              <a:rPr lang="en-US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85209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F712-A3E1-BDBB-CDF1-F97BD82C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"Final 4-Class Model (2D Features, Corrected)"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109F65-B355-0B25-A0FA-32B7BDAB4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956" y="1846599"/>
            <a:ext cx="8622206" cy="441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9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F472-1DB0-8BE2-A195-E2AB5B9C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data generation method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F87746-7601-C9AB-2054-EAE187170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493008"/>
              </p:ext>
            </p:extLst>
          </p:nvPr>
        </p:nvGraphicFramePr>
        <p:xfrm>
          <a:off x="923365" y="1748118"/>
          <a:ext cx="10345269" cy="4562185"/>
        </p:xfrm>
        <a:graphic>
          <a:graphicData uri="http://schemas.openxmlformats.org/drawingml/2006/table">
            <a:tbl>
              <a:tblPr/>
              <a:tblGrid>
                <a:gridCol w="2710030">
                  <a:extLst>
                    <a:ext uri="{9D8B030D-6E8A-4147-A177-3AD203B41FA5}">
                      <a16:colId xmlns:a16="http://schemas.microsoft.com/office/drawing/2014/main" val="1106316481"/>
                    </a:ext>
                  </a:extLst>
                </a:gridCol>
                <a:gridCol w="4186816">
                  <a:extLst>
                    <a:ext uri="{9D8B030D-6E8A-4147-A177-3AD203B41FA5}">
                      <a16:colId xmlns:a16="http://schemas.microsoft.com/office/drawing/2014/main" val="274876556"/>
                    </a:ext>
                  </a:extLst>
                </a:gridCol>
                <a:gridCol w="3448423">
                  <a:extLst>
                    <a:ext uri="{9D8B030D-6E8A-4147-A177-3AD203B41FA5}">
                      <a16:colId xmlns:a16="http://schemas.microsoft.com/office/drawing/2014/main" val="3914514713"/>
                    </a:ext>
                  </a:extLst>
                </a:gridCol>
              </a:tblGrid>
              <a:tr h="350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Feature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Current Method (Transformer-VAE)</a:t>
                      </a: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Previous Method (Data Augmentation)</a:t>
                      </a: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625848"/>
                  </a:ext>
                </a:extLst>
              </a:tr>
              <a:tr h="199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Core Technology</a:t>
                      </a:r>
                      <a:endParaRPr lang="en-US" sz="10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Deep Generative Model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Data Augmentation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744015"/>
                  </a:ext>
                </a:extLst>
              </a:tr>
              <a:tr h="802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Fundamental Idea</a:t>
                      </a:r>
                      <a:endParaRPr lang="en-US" sz="10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To Learn and Create</a:t>
                      </a:r>
                      <a:r>
                        <a:rPr lang="en-US" sz="1000"/>
                        <a:t>: The model learns the "style" and "rules" of a motion from a large dataset and then generates entirely new data that follows those rules.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To Transform and Imitate</a:t>
                      </a:r>
                      <a:r>
                        <a:rPr lang="en-US" sz="1000"/>
                        <a:t>: It takes an existing data sample and creates multiple "variants" by applying transformations like adding noise or warping time.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484094"/>
                  </a:ext>
                </a:extLst>
              </a:tr>
              <a:tr h="50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Data Requirement</a:t>
                      </a: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Requires a large dataset</a:t>
                      </a:r>
                      <a:r>
                        <a:rPr lang="en-US" sz="1000"/>
                        <a:t> to train a complex deep learning model effectively.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Only needs a single sample</a:t>
                      </a:r>
                      <a:r>
                        <a:rPr lang="en-US" sz="1000"/>
                        <a:t> to serve as the basis for augmentation.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554661"/>
                  </a:ext>
                </a:extLst>
              </a:tr>
              <a:tr h="1103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Generated Result</a:t>
                      </a:r>
                      <a:endParaRPr lang="en-US" sz="10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Completely new, diverse data</a:t>
                      </a:r>
                      <a:r>
                        <a:rPr lang="en-US" sz="1000" dirty="0"/>
                        <a:t>: The generated data is statistically similar to the training data but is fundamentally new. It can create action sequences that did not exist in the original training set.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Highly similar data</a:t>
                      </a:r>
                      <a:r>
                        <a:rPr lang="en-US" sz="1000"/>
                        <a:t>: The generated data is fundamentally the same as the original sample, with only minor variations in details and timing.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642123"/>
                  </a:ext>
                </a:extLst>
              </a:tr>
              <a:tr h="651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Complexity</a:t>
                      </a:r>
                      <a:endParaRPr lang="en-US" sz="10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Very high. It requires model design, significant computational resources, and long training times.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Very low. It is simple to implement and generates data very quickly.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087942"/>
                  </a:ext>
                </a:extLst>
              </a:tr>
              <a:tr h="952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Use Case</a:t>
                      </a:r>
                      <a:endParaRPr lang="en-US" sz="10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Ideal when you need to create a large amount of brand-new, diverse data and you have sufficient original data for training.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Ideal when you have a small amount of data and want to quickly expand the dataset with similar samples (e.g., to make a machine learning model more robust).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27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22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414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08/14</vt:lpstr>
      <vt:lpstr>GOAL</vt:lpstr>
      <vt:lpstr>examples</vt:lpstr>
      <vt:lpstr>Transformer-VAE  data generation</vt:lpstr>
      <vt:lpstr>For the "Final 4-Class Model (2D Features, Corrected)"</vt:lpstr>
      <vt:lpstr>Different data generation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2025-08-14T18:29:32Z</dcterms:created>
  <dcterms:modified xsi:type="dcterms:W3CDTF">2025-10-22T01:45:32Z</dcterms:modified>
</cp:coreProperties>
</file>