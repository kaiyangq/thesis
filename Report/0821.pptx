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71" r:id="rId4"/>
    <p:sldId id="258" r:id="rId5"/>
    <p:sldId id="257" r:id="rId6"/>
    <p:sldId id="266" r:id="rId7"/>
    <p:sldId id="259" r:id="rId8"/>
    <p:sldId id="260" r:id="rId9"/>
    <p:sldId id="261" r:id="rId10"/>
    <p:sldId id="262" r:id="rId11"/>
    <p:sldId id="263" r:id="rId12"/>
    <p:sldId id="272" r:id="rId13"/>
    <p:sldId id="264" r:id="rId14"/>
    <p:sldId id="265" r:id="rId15"/>
    <p:sldId id="2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84" autoAdjust="0"/>
    <p:restoredTop sz="94660"/>
  </p:normalViewPr>
  <p:slideViewPr>
    <p:cSldViewPr snapToGrid="0">
      <p:cViewPr varScale="1">
        <p:scale>
          <a:sx n="117" d="100"/>
          <a:sy n="117" d="100"/>
        </p:scale>
        <p:origin x="88" y="4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ian, Kaiyang" userId="b75c2dfd-7087-4e6d-8294-e848e36bd412" providerId="ADAL" clId="{E53DFDB7-3F2B-4A7B-A399-369D1EE68F4F}"/>
    <pc:docChg chg="delSld modSld">
      <pc:chgData name="Qian, Kaiyang" userId="b75c2dfd-7087-4e6d-8294-e848e36bd412" providerId="ADAL" clId="{E53DFDB7-3F2B-4A7B-A399-369D1EE68F4F}" dt="2025-10-22T01:59:32.600" v="2" actId="1076"/>
      <pc:docMkLst>
        <pc:docMk/>
      </pc:docMkLst>
      <pc:sldChg chg="modSp mod">
        <pc:chgData name="Qian, Kaiyang" userId="b75c2dfd-7087-4e6d-8294-e848e36bd412" providerId="ADAL" clId="{E53DFDB7-3F2B-4A7B-A399-369D1EE68F4F}" dt="2025-10-22T01:59:32.600" v="2" actId="1076"/>
        <pc:sldMkLst>
          <pc:docMk/>
          <pc:sldMk cId="107623200" sldId="263"/>
        </pc:sldMkLst>
        <pc:picChg chg="mod">
          <ac:chgData name="Qian, Kaiyang" userId="b75c2dfd-7087-4e6d-8294-e848e36bd412" providerId="ADAL" clId="{E53DFDB7-3F2B-4A7B-A399-369D1EE68F4F}" dt="2025-10-22T01:59:32.600" v="2" actId="1076"/>
          <ac:picMkLst>
            <pc:docMk/>
            <pc:sldMk cId="107623200" sldId="263"/>
            <ac:picMk id="6" creationId="{5B8C3FFA-265F-218F-BC1D-2251DA9A7A44}"/>
          </ac:picMkLst>
        </pc:picChg>
      </pc:sldChg>
      <pc:sldChg chg="del">
        <pc:chgData name="Qian, Kaiyang" userId="b75c2dfd-7087-4e6d-8294-e848e36bd412" providerId="ADAL" clId="{E53DFDB7-3F2B-4A7B-A399-369D1EE68F4F}" dt="2025-08-28T18:47:58.546" v="0" actId="2696"/>
        <pc:sldMkLst>
          <pc:docMk/>
          <pc:sldMk cId="2103728213" sldId="270"/>
        </pc:sldMkLst>
      </pc:sldChg>
    </pc:docChg>
  </pc:docChgLst>
  <pc:docChgLst>
    <pc:chgData name="Qian, Kaiyang" userId="b75c2dfd-7087-4e6d-8294-e848e36bd412" providerId="ADAL" clId="{D056DD72-C124-4FC7-8E1E-ED07E5C3F858}"/>
    <pc:docChg chg="custSel addSld modSld sldOrd">
      <pc:chgData name="Qian, Kaiyang" userId="b75c2dfd-7087-4e6d-8294-e848e36bd412" providerId="ADAL" clId="{D056DD72-C124-4FC7-8E1E-ED07E5C3F858}" dt="2025-08-21T23:29:12.287" v="652" actId="5793"/>
      <pc:docMkLst>
        <pc:docMk/>
      </pc:docMkLst>
      <pc:sldChg chg="modSp">
        <pc:chgData name="Qian, Kaiyang" userId="b75c2dfd-7087-4e6d-8294-e848e36bd412" providerId="ADAL" clId="{D056DD72-C124-4FC7-8E1E-ED07E5C3F858}" dt="2025-08-21T22:11:34.716" v="539"/>
        <pc:sldMkLst>
          <pc:docMk/>
          <pc:sldMk cId="3272955861" sldId="256"/>
        </pc:sldMkLst>
      </pc:sldChg>
      <pc:sldChg chg="modSp mod ord">
        <pc:chgData name="Qian, Kaiyang" userId="b75c2dfd-7087-4e6d-8294-e848e36bd412" providerId="ADAL" clId="{D056DD72-C124-4FC7-8E1E-ED07E5C3F858}" dt="2025-08-21T22:00:06.405" v="533" actId="20577"/>
        <pc:sldMkLst>
          <pc:docMk/>
          <pc:sldMk cId="2106967060" sldId="257"/>
        </pc:sldMkLst>
      </pc:sldChg>
      <pc:sldChg chg="modSp mod">
        <pc:chgData name="Qian, Kaiyang" userId="b75c2dfd-7087-4e6d-8294-e848e36bd412" providerId="ADAL" clId="{D056DD72-C124-4FC7-8E1E-ED07E5C3F858}" dt="2025-08-21T21:59:58.116" v="516" actId="20577"/>
        <pc:sldMkLst>
          <pc:docMk/>
          <pc:sldMk cId="1360300186" sldId="258"/>
        </pc:sldMkLst>
      </pc:sldChg>
      <pc:sldChg chg="addSp modSp mod">
        <pc:chgData name="Qian, Kaiyang" userId="b75c2dfd-7087-4e6d-8294-e848e36bd412" providerId="ADAL" clId="{D056DD72-C124-4FC7-8E1E-ED07E5C3F858}" dt="2025-08-21T21:41:26.245" v="415" actId="1076"/>
        <pc:sldMkLst>
          <pc:docMk/>
          <pc:sldMk cId="1520695213" sldId="259"/>
        </pc:sldMkLst>
      </pc:sldChg>
      <pc:sldChg chg="addSp modSp mod">
        <pc:chgData name="Qian, Kaiyang" userId="b75c2dfd-7087-4e6d-8294-e848e36bd412" providerId="ADAL" clId="{D056DD72-C124-4FC7-8E1E-ED07E5C3F858}" dt="2025-08-21T23:18:01.673" v="612" actId="113"/>
        <pc:sldMkLst>
          <pc:docMk/>
          <pc:sldMk cId="107623200" sldId="263"/>
        </pc:sldMkLst>
      </pc:sldChg>
      <pc:sldChg chg="modSp mod">
        <pc:chgData name="Qian, Kaiyang" userId="b75c2dfd-7087-4e6d-8294-e848e36bd412" providerId="ADAL" clId="{D056DD72-C124-4FC7-8E1E-ED07E5C3F858}" dt="2025-08-21T21:54:41.313" v="490" actId="20577"/>
        <pc:sldMkLst>
          <pc:docMk/>
          <pc:sldMk cId="34910710" sldId="264"/>
        </pc:sldMkLst>
      </pc:sldChg>
      <pc:sldChg chg="modSp mod">
        <pc:chgData name="Qian, Kaiyang" userId="b75c2dfd-7087-4e6d-8294-e848e36bd412" providerId="ADAL" clId="{D056DD72-C124-4FC7-8E1E-ED07E5C3F858}" dt="2025-08-21T20:45:10.613" v="25" actId="1076"/>
        <pc:sldMkLst>
          <pc:docMk/>
          <pc:sldMk cId="1955441126" sldId="265"/>
        </pc:sldMkLst>
      </pc:sldChg>
      <pc:sldChg chg="modSp mod">
        <pc:chgData name="Qian, Kaiyang" userId="b75c2dfd-7087-4e6d-8294-e848e36bd412" providerId="ADAL" clId="{D056DD72-C124-4FC7-8E1E-ED07E5C3F858}" dt="2025-08-21T22:00:22.807" v="538" actId="1076"/>
        <pc:sldMkLst>
          <pc:docMk/>
          <pc:sldMk cId="1841932606" sldId="266"/>
        </pc:sldMkLst>
      </pc:sldChg>
      <pc:sldChg chg="addSp delSp modSp new mod">
        <pc:chgData name="Qian, Kaiyang" userId="b75c2dfd-7087-4e6d-8294-e848e36bd412" providerId="ADAL" clId="{D056DD72-C124-4FC7-8E1E-ED07E5C3F858}" dt="2025-08-21T23:29:12.287" v="652" actId="5793"/>
        <pc:sldMkLst>
          <pc:docMk/>
          <pc:sldMk cId="4256761105" sldId="267"/>
        </pc:sldMkLst>
      </pc:sldChg>
      <pc:sldChg chg="addSp delSp modSp new mod">
        <pc:chgData name="Qian, Kaiyang" userId="b75c2dfd-7087-4e6d-8294-e848e36bd412" providerId="ADAL" clId="{D056DD72-C124-4FC7-8E1E-ED07E5C3F858}" dt="2025-08-21T23:14:21.341" v="592" actId="20577"/>
        <pc:sldMkLst>
          <pc:docMk/>
          <pc:sldMk cId="2812673255" sldId="268"/>
        </pc:sldMkLst>
      </pc:sldChg>
      <pc:sldChg chg="modSp">
        <pc:chgData name="Qian, Kaiyang" userId="b75c2dfd-7087-4e6d-8294-e848e36bd412" providerId="ADAL" clId="{D056DD72-C124-4FC7-8E1E-ED07E5C3F858}" dt="2025-08-21T21:54:00.250" v="451"/>
        <pc:sldMkLst>
          <pc:docMk/>
          <pc:sldMk cId="3553960984" sldId="269"/>
        </pc:sldMkLst>
      </pc:sldChg>
      <pc:sldChg chg="addSp delSp modSp new mod">
        <pc:chgData name="Qian, Kaiyang" userId="b75c2dfd-7087-4e6d-8294-e848e36bd412" providerId="ADAL" clId="{D056DD72-C124-4FC7-8E1E-ED07E5C3F858}" dt="2025-08-21T22:33:29.018" v="591" actId="20577"/>
        <pc:sldMkLst>
          <pc:docMk/>
          <pc:sldMk cId="1721798708" sldId="271"/>
        </pc:sldMkLst>
      </pc:sldChg>
      <pc:sldChg chg="addSp delSp modSp new mod">
        <pc:chgData name="Qian, Kaiyang" userId="b75c2dfd-7087-4e6d-8294-e848e36bd412" providerId="ADAL" clId="{D056DD72-C124-4FC7-8E1E-ED07E5C3F858}" dt="2025-08-21T23:21:12.418" v="640" actId="1076"/>
        <pc:sldMkLst>
          <pc:docMk/>
          <pc:sldMk cId="3200697493" sldId="272"/>
        </pc:sldMkLst>
      </pc:sldChg>
    </pc:docChg>
  </pc:docChgLst>
  <pc:docChgLst>
    <pc:chgData name="yaz624@lehigh.edu" userId="S::urn:spo:guest#yaz624@lehigh.edu::" providerId="AD" clId="Web-{A24D06A0-2D26-7789-EC57-B152ACB6ECE9}"/>
    <pc:docChg chg="addSld delSld modSld">
      <pc:chgData name="yaz624@lehigh.edu" userId="S::urn:spo:guest#yaz624@lehigh.edu::" providerId="AD" clId="Web-{A24D06A0-2D26-7789-EC57-B152ACB6ECE9}" dt="2025-08-22T01:46:00.745" v="11"/>
      <pc:docMkLst>
        <pc:docMk/>
      </pc:docMkLst>
      <pc:sldChg chg="addSp delSp modSp del">
        <pc:chgData name="yaz624@lehigh.edu" userId="S::urn:spo:guest#yaz624@lehigh.edu::" providerId="AD" clId="Web-{A24D06A0-2D26-7789-EC57-B152ACB6ECE9}" dt="2025-08-22T01:45:39.166" v="9"/>
        <pc:sldMkLst>
          <pc:docMk/>
          <pc:sldMk cId="3553960984" sldId="269"/>
        </pc:sldMkLst>
      </pc:sldChg>
      <pc:sldChg chg="add del">
        <pc:chgData name="yaz624@lehigh.edu" userId="S::urn:spo:guest#yaz624@lehigh.edu::" providerId="AD" clId="Web-{A24D06A0-2D26-7789-EC57-B152ACB6ECE9}" dt="2025-08-22T01:46:00.745" v="11"/>
        <pc:sldMkLst>
          <pc:docMk/>
          <pc:sldMk cId="1155486368" sldId="273"/>
        </pc:sldMkLst>
      </pc:sldChg>
    </pc:docChg>
  </pc:docChgLst>
  <pc:docChgLst>
    <pc:chgData name="yaz624@lehigh.edu" userId="S::urn:spo:guest#yaz624@lehigh.edu::" providerId="AD" clId="Web-{33E2836F-1463-61F7-751A-84CA339365A8}"/>
    <pc:docChg chg="addSld modSld">
      <pc:chgData name="yaz624@lehigh.edu" userId="S::urn:spo:guest#yaz624@lehigh.edu::" providerId="AD" clId="Web-{33E2836F-1463-61F7-751A-84CA339365A8}" dt="2025-08-21T21:40:35.835" v="17"/>
      <pc:docMkLst>
        <pc:docMk/>
      </pc:docMkLst>
      <pc:sldChg chg="addSp delSp modSp new addAnim delAnim">
        <pc:chgData name="yaz624@lehigh.edu" userId="S::urn:spo:guest#yaz624@lehigh.edu::" providerId="AD" clId="Web-{33E2836F-1463-61F7-751A-84CA339365A8}" dt="2025-08-21T21:40:35.835" v="17"/>
        <pc:sldMkLst>
          <pc:docMk/>
          <pc:sldMk cId="3553960984" sldId="269"/>
        </pc:sldMkLst>
      </pc:sldChg>
      <pc:sldChg chg="addSp delSp modSp new">
        <pc:chgData name="yaz624@lehigh.edu" userId="S::urn:spo:guest#yaz624@lehigh.edu::" providerId="AD" clId="Web-{33E2836F-1463-61F7-751A-84CA339365A8}" dt="2025-08-21T21:40:32.882" v="16"/>
        <pc:sldMkLst>
          <pc:docMk/>
          <pc:sldMk cId="2103728213" sldId="27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57B3E-B230-B1B4-F444-FABCCB441D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6AD6751-3B23-A97A-5FB4-55EECAB4C5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0B4AAA6-1DB9-FD09-FB5A-208B2481827D}"/>
              </a:ext>
            </a:extLst>
          </p:cNvPr>
          <p:cNvSpPr>
            <a:spLocks noGrp="1"/>
          </p:cNvSpPr>
          <p:nvPr>
            <p:ph type="dt" sz="half" idx="10"/>
          </p:nvPr>
        </p:nvSpPr>
        <p:spPr/>
        <p:txBody>
          <a:bodyPr/>
          <a:lstStyle/>
          <a:p>
            <a:fld id="{8E79C59F-2AC9-4674-8B37-DAD4022A9D70}" type="datetimeFigureOut">
              <a:rPr lang="en-US" smtClean="0"/>
              <a:t>10/21/2025</a:t>
            </a:fld>
            <a:endParaRPr lang="en-US"/>
          </a:p>
        </p:txBody>
      </p:sp>
      <p:sp>
        <p:nvSpPr>
          <p:cNvPr id="5" name="Footer Placeholder 4">
            <a:extLst>
              <a:ext uri="{FF2B5EF4-FFF2-40B4-BE49-F238E27FC236}">
                <a16:creationId xmlns:a16="http://schemas.microsoft.com/office/drawing/2014/main" id="{D7CA6090-02A9-B85A-7C07-378E8FD227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C38934-86E9-33F1-9753-35A26B834062}"/>
              </a:ext>
            </a:extLst>
          </p:cNvPr>
          <p:cNvSpPr>
            <a:spLocks noGrp="1"/>
          </p:cNvSpPr>
          <p:nvPr>
            <p:ph type="sldNum" sz="quarter" idx="12"/>
          </p:nvPr>
        </p:nvSpPr>
        <p:spPr/>
        <p:txBody>
          <a:bodyPr/>
          <a:lstStyle/>
          <a:p>
            <a:fld id="{306157B6-6F05-4D27-A213-9B043FA456B0}" type="slidenum">
              <a:rPr lang="en-US" smtClean="0"/>
              <a:t>‹#›</a:t>
            </a:fld>
            <a:endParaRPr lang="en-US"/>
          </a:p>
        </p:txBody>
      </p:sp>
    </p:spTree>
    <p:extLst>
      <p:ext uri="{BB962C8B-B14F-4D97-AF65-F5344CB8AC3E}">
        <p14:creationId xmlns:p14="http://schemas.microsoft.com/office/powerpoint/2010/main" val="3229828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53F1E-8D47-AFAD-CAC3-101886E679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2D112B-9E83-AA3C-A36A-5B633E5EF6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863E56-A55E-52C1-AE8B-329D3808BA09}"/>
              </a:ext>
            </a:extLst>
          </p:cNvPr>
          <p:cNvSpPr>
            <a:spLocks noGrp="1"/>
          </p:cNvSpPr>
          <p:nvPr>
            <p:ph type="dt" sz="half" idx="10"/>
          </p:nvPr>
        </p:nvSpPr>
        <p:spPr/>
        <p:txBody>
          <a:bodyPr/>
          <a:lstStyle/>
          <a:p>
            <a:fld id="{8E79C59F-2AC9-4674-8B37-DAD4022A9D70}" type="datetimeFigureOut">
              <a:rPr lang="en-US" smtClean="0"/>
              <a:t>10/21/2025</a:t>
            </a:fld>
            <a:endParaRPr lang="en-US"/>
          </a:p>
        </p:txBody>
      </p:sp>
      <p:sp>
        <p:nvSpPr>
          <p:cNvPr id="5" name="Footer Placeholder 4">
            <a:extLst>
              <a:ext uri="{FF2B5EF4-FFF2-40B4-BE49-F238E27FC236}">
                <a16:creationId xmlns:a16="http://schemas.microsoft.com/office/drawing/2014/main" id="{5D3A9256-210F-C14F-89A9-7627FD4E5D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411082-A42E-14A7-A211-D5D629B7A21B}"/>
              </a:ext>
            </a:extLst>
          </p:cNvPr>
          <p:cNvSpPr>
            <a:spLocks noGrp="1"/>
          </p:cNvSpPr>
          <p:nvPr>
            <p:ph type="sldNum" sz="quarter" idx="12"/>
          </p:nvPr>
        </p:nvSpPr>
        <p:spPr/>
        <p:txBody>
          <a:bodyPr/>
          <a:lstStyle/>
          <a:p>
            <a:fld id="{306157B6-6F05-4D27-A213-9B043FA456B0}" type="slidenum">
              <a:rPr lang="en-US" smtClean="0"/>
              <a:t>‹#›</a:t>
            </a:fld>
            <a:endParaRPr lang="en-US"/>
          </a:p>
        </p:txBody>
      </p:sp>
    </p:spTree>
    <p:extLst>
      <p:ext uri="{BB962C8B-B14F-4D97-AF65-F5344CB8AC3E}">
        <p14:creationId xmlns:p14="http://schemas.microsoft.com/office/powerpoint/2010/main" val="3491146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DE9FE-22A7-20BE-561C-00070A5814A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A0D070-647E-8C7C-7D9E-2E737F3CE0B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BEE007-DBA3-B376-436F-DC01DC2099E1}"/>
              </a:ext>
            </a:extLst>
          </p:cNvPr>
          <p:cNvSpPr>
            <a:spLocks noGrp="1"/>
          </p:cNvSpPr>
          <p:nvPr>
            <p:ph type="dt" sz="half" idx="10"/>
          </p:nvPr>
        </p:nvSpPr>
        <p:spPr/>
        <p:txBody>
          <a:bodyPr/>
          <a:lstStyle/>
          <a:p>
            <a:fld id="{8E79C59F-2AC9-4674-8B37-DAD4022A9D70}" type="datetimeFigureOut">
              <a:rPr lang="en-US" smtClean="0"/>
              <a:t>10/21/2025</a:t>
            </a:fld>
            <a:endParaRPr lang="en-US"/>
          </a:p>
        </p:txBody>
      </p:sp>
      <p:sp>
        <p:nvSpPr>
          <p:cNvPr id="5" name="Footer Placeholder 4">
            <a:extLst>
              <a:ext uri="{FF2B5EF4-FFF2-40B4-BE49-F238E27FC236}">
                <a16:creationId xmlns:a16="http://schemas.microsoft.com/office/drawing/2014/main" id="{6F794279-76B3-8306-6EB4-5F3CBF7CEC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F8FDF1-7E1B-23BD-3B97-44F94A890942}"/>
              </a:ext>
            </a:extLst>
          </p:cNvPr>
          <p:cNvSpPr>
            <a:spLocks noGrp="1"/>
          </p:cNvSpPr>
          <p:nvPr>
            <p:ph type="sldNum" sz="quarter" idx="12"/>
          </p:nvPr>
        </p:nvSpPr>
        <p:spPr/>
        <p:txBody>
          <a:bodyPr/>
          <a:lstStyle/>
          <a:p>
            <a:fld id="{306157B6-6F05-4D27-A213-9B043FA456B0}" type="slidenum">
              <a:rPr lang="en-US" smtClean="0"/>
              <a:t>‹#›</a:t>
            </a:fld>
            <a:endParaRPr lang="en-US"/>
          </a:p>
        </p:txBody>
      </p:sp>
    </p:spTree>
    <p:extLst>
      <p:ext uri="{BB962C8B-B14F-4D97-AF65-F5344CB8AC3E}">
        <p14:creationId xmlns:p14="http://schemas.microsoft.com/office/powerpoint/2010/main" val="422023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D3C47-45C0-F2FF-2C54-65BD5F20F0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B697AA-57F3-6830-CB32-20B19E4FFB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B72F3B-3DC7-0542-692E-195F1448A7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ECDCB8-883F-4675-572E-25DE4516099D}"/>
              </a:ext>
            </a:extLst>
          </p:cNvPr>
          <p:cNvSpPr>
            <a:spLocks noGrp="1"/>
          </p:cNvSpPr>
          <p:nvPr>
            <p:ph type="dt" sz="half" idx="10"/>
          </p:nvPr>
        </p:nvSpPr>
        <p:spPr/>
        <p:txBody>
          <a:bodyPr/>
          <a:lstStyle/>
          <a:p>
            <a:fld id="{8E79C59F-2AC9-4674-8B37-DAD4022A9D70}" type="datetimeFigureOut">
              <a:rPr lang="en-US" smtClean="0"/>
              <a:t>10/21/2025</a:t>
            </a:fld>
            <a:endParaRPr lang="en-US"/>
          </a:p>
        </p:txBody>
      </p:sp>
      <p:sp>
        <p:nvSpPr>
          <p:cNvPr id="6" name="Footer Placeholder 5">
            <a:extLst>
              <a:ext uri="{FF2B5EF4-FFF2-40B4-BE49-F238E27FC236}">
                <a16:creationId xmlns:a16="http://schemas.microsoft.com/office/drawing/2014/main" id="{89CA18BF-D3C8-F9E1-632B-4B42420A78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4C1781-8290-8409-5FEC-04424C9DA87D}"/>
              </a:ext>
            </a:extLst>
          </p:cNvPr>
          <p:cNvSpPr>
            <a:spLocks noGrp="1"/>
          </p:cNvSpPr>
          <p:nvPr>
            <p:ph type="sldNum" sz="quarter" idx="12"/>
          </p:nvPr>
        </p:nvSpPr>
        <p:spPr/>
        <p:txBody>
          <a:bodyPr/>
          <a:lstStyle/>
          <a:p>
            <a:fld id="{306157B6-6F05-4D27-A213-9B043FA456B0}" type="slidenum">
              <a:rPr lang="en-US" smtClean="0"/>
              <a:t>‹#›</a:t>
            </a:fld>
            <a:endParaRPr lang="en-US"/>
          </a:p>
        </p:txBody>
      </p:sp>
    </p:spTree>
    <p:extLst>
      <p:ext uri="{BB962C8B-B14F-4D97-AF65-F5344CB8AC3E}">
        <p14:creationId xmlns:p14="http://schemas.microsoft.com/office/powerpoint/2010/main" val="1802913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ADDCB-ECA8-596E-B0AA-897E629C8C3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F322EF-E270-719C-AF7C-E40CC30028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ED84E3-96C7-649F-4B2F-5F65EE53A6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03C46E-AD69-07D6-ED18-C51D20D57C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99AFDF-30EA-65CB-EC2D-79FE58CB4A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5A97CC-A34A-F0E0-EC3C-B94AB1DAE9E1}"/>
              </a:ext>
            </a:extLst>
          </p:cNvPr>
          <p:cNvSpPr>
            <a:spLocks noGrp="1"/>
          </p:cNvSpPr>
          <p:nvPr>
            <p:ph type="dt" sz="half" idx="10"/>
          </p:nvPr>
        </p:nvSpPr>
        <p:spPr/>
        <p:txBody>
          <a:bodyPr/>
          <a:lstStyle/>
          <a:p>
            <a:fld id="{8E79C59F-2AC9-4674-8B37-DAD4022A9D70}" type="datetimeFigureOut">
              <a:rPr lang="en-US" smtClean="0"/>
              <a:t>10/21/2025</a:t>
            </a:fld>
            <a:endParaRPr lang="en-US"/>
          </a:p>
        </p:txBody>
      </p:sp>
      <p:sp>
        <p:nvSpPr>
          <p:cNvPr id="8" name="Footer Placeholder 7">
            <a:extLst>
              <a:ext uri="{FF2B5EF4-FFF2-40B4-BE49-F238E27FC236}">
                <a16:creationId xmlns:a16="http://schemas.microsoft.com/office/drawing/2014/main" id="{33B0599F-3077-91CD-8B16-0DD2F39DADC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3EAC23D-CFA5-3AE2-94C0-8BA376BACBE3}"/>
              </a:ext>
            </a:extLst>
          </p:cNvPr>
          <p:cNvSpPr>
            <a:spLocks noGrp="1"/>
          </p:cNvSpPr>
          <p:nvPr>
            <p:ph type="sldNum" sz="quarter" idx="12"/>
          </p:nvPr>
        </p:nvSpPr>
        <p:spPr/>
        <p:txBody>
          <a:bodyPr/>
          <a:lstStyle/>
          <a:p>
            <a:fld id="{306157B6-6F05-4D27-A213-9B043FA456B0}" type="slidenum">
              <a:rPr lang="en-US" smtClean="0"/>
              <a:t>‹#›</a:t>
            </a:fld>
            <a:endParaRPr lang="en-US"/>
          </a:p>
        </p:txBody>
      </p:sp>
    </p:spTree>
    <p:extLst>
      <p:ext uri="{BB962C8B-B14F-4D97-AF65-F5344CB8AC3E}">
        <p14:creationId xmlns:p14="http://schemas.microsoft.com/office/powerpoint/2010/main" val="3016073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0D8EB-17FE-FE3B-0251-EC01F6067E3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98BDD0-8266-3561-047A-E2F9B5BAA86E}"/>
              </a:ext>
            </a:extLst>
          </p:cNvPr>
          <p:cNvSpPr>
            <a:spLocks noGrp="1"/>
          </p:cNvSpPr>
          <p:nvPr>
            <p:ph type="dt" sz="half" idx="10"/>
          </p:nvPr>
        </p:nvSpPr>
        <p:spPr/>
        <p:txBody>
          <a:bodyPr/>
          <a:lstStyle/>
          <a:p>
            <a:fld id="{8E79C59F-2AC9-4674-8B37-DAD4022A9D70}" type="datetimeFigureOut">
              <a:rPr lang="en-US" smtClean="0"/>
              <a:t>10/21/2025</a:t>
            </a:fld>
            <a:endParaRPr lang="en-US"/>
          </a:p>
        </p:txBody>
      </p:sp>
      <p:sp>
        <p:nvSpPr>
          <p:cNvPr id="4" name="Footer Placeholder 3">
            <a:extLst>
              <a:ext uri="{FF2B5EF4-FFF2-40B4-BE49-F238E27FC236}">
                <a16:creationId xmlns:a16="http://schemas.microsoft.com/office/drawing/2014/main" id="{DDAB9600-F902-7100-A001-96FF2547EBC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0372B5-35E5-A2A7-B70D-41C01DB70E50}"/>
              </a:ext>
            </a:extLst>
          </p:cNvPr>
          <p:cNvSpPr>
            <a:spLocks noGrp="1"/>
          </p:cNvSpPr>
          <p:nvPr>
            <p:ph type="sldNum" sz="quarter" idx="12"/>
          </p:nvPr>
        </p:nvSpPr>
        <p:spPr/>
        <p:txBody>
          <a:bodyPr/>
          <a:lstStyle/>
          <a:p>
            <a:fld id="{306157B6-6F05-4D27-A213-9B043FA456B0}" type="slidenum">
              <a:rPr lang="en-US" smtClean="0"/>
              <a:t>‹#›</a:t>
            </a:fld>
            <a:endParaRPr lang="en-US"/>
          </a:p>
        </p:txBody>
      </p:sp>
    </p:spTree>
    <p:extLst>
      <p:ext uri="{BB962C8B-B14F-4D97-AF65-F5344CB8AC3E}">
        <p14:creationId xmlns:p14="http://schemas.microsoft.com/office/powerpoint/2010/main" val="2454226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516A45-4741-2E74-54AC-A9B73EF81058}"/>
              </a:ext>
            </a:extLst>
          </p:cNvPr>
          <p:cNvSpPr>
            <a:spLocks noGrp="1"/>
          </p:cNvSpPr>
          <p:nvPr>
            <p:ph type="dt" sz="half" idx="10"/>
          </p:nvPr>
        </p:nvSpPr>
        <p:spPr/>
        <p:txBody>
          <a:bodyPr/>
          <a:lstStyle/>
          <a:p>
            <a:fld id="{8E79C59F-2AC9-4674-8B37-DAD4022A9D70}" type="datetimeFigureOut">
              <a:rPr lang="en-US" smtClean="0"/>
              <a:t>10/21/2025</a:t>
            </a:fld>
            <a:endParaRPr lang="en-US"/>
          </a:p>
        </p:txBody>
      </p:sp>
      <p:sp>
        <p:nvSpPr>
          <p:cNvPr id="3" name="Footer Placeholder 2">
            <a:extLst>
              <a:ext uri="{FF2B5EF4-FFF2-40B4-BE49-F238E27FC236}">
                <a16:creationId xmlns:a16="http://schemas.microsoft.com/office/drawing/2014/main" id="{DC2FDFAD-1BA7-33AC-055D-45151A2DEE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2B8B1A-DE1E-72FA-F5BC-06AAAD3FB341}"/>
              </a:ext>
            </a:extLst>
          </p:cNvPr>
          <p:cNvSpPr>
            <a:spLocks noGrp="1"/>
          </p:cNvSpPr>
          <p:nvPr>
            <p:ph type="sldNum" sz="quarter" idx="12"/>
          </p:nvPr>
        </p:nvSpPr>
        <p:spPr/>
        <p:txBody>
          <a:bodyPr/>
          <a:lstStyle/>
          <a:p>
            <a:fld id="{306157B6-6F05-4D27-A213-9B043FA456B0}" type="slidenum">
              <a:rPr lang="en-US" smtClean="0"/>
              <a:t>‹#›</a:t>
            </a:fld>
            <a:endParaRPr lang="en-US"/>
          </a:p>
        </p:txBody>
      </p:sp>
    </p:spTree>
    <p:extLst>
      <p:ext uri="{BB962C8B-B14F-4D97-AF65-F5344CB8AC3E}">
        <p14:creationId xmlns:p14="http://schemas.microsoft.com/office/powerpoint/2010/main" val="3830223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C1A46-B7D5-AE0B-75DE-A5012598E6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EBF328F-D97C-AB27-5936-CA25503E3C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973BD20-1D71-35DC-745B-B011E03173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6C6454-D271-40C8-48C4-4D5FA5746CA2}"/>
              </a:ext>
            </a:extLst>
          </p:cNvPr>
          <p:cNvSpPr>
            <a:spLocks noGrp="1"/>
          </p:cNvSpPr>
          <p:nvPr>
            <p:ph type="dt" sz="half" idx="10"/>
          </p:nvPr>
        </p:nvSpPr>
        <p:spPr/>
        <p:txBody>
          <a:bodyPr/>
          <a:lstStyle/>
          <a:p>
            <a:fld id="{8E79C59F-2AC9-4674-8B37-DAD4022A9D70}" type="datetimeFigureOut">
              <a:rPr lang="en-US" smtClean="0"/>
              <a:t>10/21/2025</a:t>
            </a:fld>
            <a:endParaRPr lang="en-US"/>
          </a:p>
        </p:txBody>
      </p:sp>
      <p:sp>
        <p:nvSpPr>
          <p:cNvPr id="6" name="Footer Placeholder 5">
            <a:extLst>
              <a:ext uri="{FF2B5EF4-FFF2-40B4-BE49-F238E27FC236}">
                <a16:creationId xmlns:a16="http://schemas.microsoft.com/office/drawing/2014/main" id="{6B3CC375-458D-5187-6225-4223A64B9F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65648A-A1F7-CBDD-9053-A8417E1B294E}"/>
              </a:ext>
            </a:extLst>
          </p:cNvPr>
          <p:cNvSpPr>
            <a:spLocks noGrp="1"/>
          </p:cNvSpPr>
          <p:nvPr>
            <p:ph type="sldNum" sz="quarter" idx="12"/>
          </p:nvPr>
        </p:nvSpPr>
        <p:spPr/>
        <p:txBody>
          <a:bodyPr/>
          <a:lstStyle/>
          <a:p>
            <a:fld id="{306157B6-6F05-4D27-A213-9B043FA456B0}" type="slidenum">
              <a:rPr lang="en-US" smtClean="0"/>
              <a:t>‹#›</a:t>
            </a:fld>
            <a:endParaRPr lang="en-US"/>
          </a:p>
        </p:txBody>
      </p:sp>
    </p:spTree>
    <p:extLst>
      <p:ext uri="{BB962C8B-B14F-4D97-AF65-F5344CB8AC3E}">
        <p14:creationId xmlns:p14="http://schemas.microsoft.com/office/powerpoint/2010/main" val="26622478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24E2D-8EAE-8AB0-AE93-411F50957E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4A6C0E-D9BB-19EA-9699-CEB599B92C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27C513-B9E1-2B5E-D9C6-C91FC99B84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BA3B22-0C41-AD45-34C1-203C75F0319F}"/>
              </a:ext>
            </a:extLst>
          </p:cNvPr>
          <p:cNvSpPr>
            <a:spLocks noGrp="1"/>
          </p:cNvSpPr>
          <p:nvPr>
            <p:ph type="dt" sz="half" idx="10"/>
          </p:nvPr>
        </p:nvSpPr>
        <p:spPr/>
        <p:txBody>
          <a:bodyPr/>
          <a:lstStyle/>
          <a:p>
            <a:fld id="{8E79C59F-2AC9-4674-8B37-DAD4022A9D70}" type="datetimeFigureOut">
              <a:rPr lang="en-US" smtClean="0"/>
              <a:t>10/21/2025</a:t>
            </a:fld>
            <a:endParaRPr lang="en-US"/>
          </a:p>
        </p:txBody>
      </p:sp>
      <p:sp>
        <p:nvSpPr>
          <p:cNvPr id="6" name="Footer Placeholder 5">
            <a:extLst>
              <a:ext uri="{FF2B5EF4-FFF2-40B4-BE49-F238E27FC236}">
                <a16:creationId xmlns:a16="http://schemas.microsoft.com/office/drawing/2014/main" id="{F08991F5-3EB4-FF49-47DC-CB7C4BDE12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3EBE74-5749-5B1F-77DA-721C4E0CEB1B}"/>
              </a:ext>
            </a:extLst>
          </p:cNvPr>
          <p:cNvSpPr>
            <a:spLocks noGrp="1"/>
          </p:cNvSpPr>
          <p:nvPr>
            <p:ph type="sldNum" sz="quarter" idx="12"/>
          </p:nvPr>
        </p:nvSpPr>
        <p:spPr/>
        <p:txBody>
          <a:bodyPr/>
          <a:lstStyle/>
          <a:p>
            <a:fld id="{306157B6-6F05-4D27-A213-9B043FA456B0}" type="slidenum">
              <a:rPr lang="en-US" smtClean="0"/>
              <a:t>‹#›</a:t>
            </a:fld>
            <a:endParaRPr lang="en-US"/>
          </a:p>
        </p:txBody>
      </p:sp>
    </p:spTree>
    <p:extLst>
      <p:ext uri="{BB962C8B-B14F-4D97-AF65-F5344CB8AC3E}">
        <p14:creationId xmlns:p14="http://schemas.microsoft.com/office/powerpoint/2010/main" val="2986605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3B263-8F8E-D0FC-2563-6968B49DD50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2F195B3-A485-71D0-BDA3-30118DCBBC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818254-A4CE-C989-7B25-9DC7E31B6998}"/>
              </a:ext>
            </a:extLst>
          </p:cNvPr>
          <p:cNvSpPr>
            <a:spLocks noGrp="1"/>
          </p:cNvSpPr>
          <p:nvPr>
            <p:ph type="dt" sz="half" idx="10"/>
          </p:nvPr>
        </p:nvSpPr>
        <p:spPr/>
        <p:txBody>
          <a:bodyPr/>
          <a:lstStyle/>
          <a:p>
            <a:fld id="{8E79C59F-2AC9-4674-8B37-DAD4022A9D70}" type="datetimeFigureOut">
              <a:rPr lang="en-US" smtClean="0"/>
              <a:t>10/21/2025</a:t>
            </a:fld>
            <a:endParaRPr lang="en-US"/>
          </a:p>
        </p:txBody>
      </p:sp>
      <p:sp>
        <p:nvSpPr>
          <p:cNvPr id="5" name="Footer Placeholder 4">
            <a:extLst>
              <a:ext uri="{FF2B5EF4-FFF2-40B4-BE49-F238E27FC236}">
                <a16:creationId xmlns:a16="http://schemas.microsoft.com/office/drawing/2014/main" id="{12395B20-1AF6-F1C6-EB3F-4B4C341D1A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398AB8-043E-479F-7A18-D464F82E5418}"/>
              </a:ext>
            </a:extLst>
          </p:cNvPr>
          <p:cNvSpPr>
            <a:spLocks noGrp="1"/>
          </p:cNvSpPr>
          <p:nvPr>
            <p:ph type="sldNum" sz="quarter" idx="12"/>
          </p:nvPr>
        </p:nvSpPr>
        <p:spPr/>
        <p:txBody>
          <a:bodyPr/>
          <a:lstStyle/>
          <a:p>
            <a:fld id="{306157B6-6F05-4D27-A213-9B043FA456B0}" type="slidenum">
              <a:rPr lang="en-US" smtClean="0"/>
              <a:t>‹#›</a:t>
            </a:fld>
            <a:endParaRPr lang="en-US"/>
          </a:p>
        </p:txBody>
      </p:sp>
    </p:spTree>
    <p:extLst>
      <p:ext uri="{BB962C8B-B14F-4D97-AF65-F5344CB8AC3E}">
        <p14:creationId xmlns:p14="http://schemas.microsoft.com/office/powerpoint/2010/main" val="310576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C27DBE-A1CA-862F-8B44-D31ED1AD711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49D4F9-BED5-41C9-3176-BECE990FB5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C54101-9826-8022-B2F4-B25D027B1513}"/>
              </a:ext>
            </a:extLst>
          </p:cNvPr>
          <p:cNvSpPr>
            <a:spLocks noGrp="1"/>
          </p:cNvSpPr>
          <p:nvPr>
            <p:ph type="dt" sz="half" idx="10"/>
          </p:nvPr>
        </p:nvSpPr>
        <p:spPr/>
        <p:txBody>
          <a:bodyPr/>
          <a:lstStyle/>
          <a:p>
            <a:fld id="{8E79C59F-2AC9-4674-8B37-DAD4022A9D70}" type="datetimeFigureOut">
              <a:rPr lang="en-US" smtClean="0"/>
              <a:t>10/21/2025</a:t>
            </a:fld>
            <a:endParaRPr lang="en-US"/>
          </a:p>
        </p:txBody>
      </p:sp>
      <p:sp>
        <p:nvSpPr>
          <p:cNvPr id="5" name="Footer Placeholder 4">
            <a:extLst>
              <a:ext uri="{FF2B5EF4-FFF2-40B4-BE49-F238E27FC236}">
                <a16:creationId xmlns:a16="http://schemas.microsoft.com/office/drawing/2014/main" id="{585C28A7-6313-DDD5-E7AA-57A512D80F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6F19A9-2CB5-19AE-EB29-961EC68A55D4}"/>
              </a:ext>
            </a:extLst>
          </p:cNvPr>
          <p:cNvSpPr>
            <a:spLocks noGrp="1"/>
          </p:cNvSpPr>
          <p:nvPr>
            <p:ph type="sldNum" sz="quarter" idx="12"/>
          </p:nvPr>
        </p:nvSpPr>
        <p:spPr/>
        <p:txBody>
          <a:bodyPr/>
          <a:lstStyle/>
          <a:p>
            <a:fld id="{306157B6-6F05-4D27-A213-9B043FA456B0}" type="slidenum">
              <a:rPr lang="en-US" smtClean="0"/>
              <a:t>‹#›</a:t>
            </a:fld>
            <a:endParaRPr lang="en-US"/>
          </a:p>
        </p:txBody>
      </p:sp>
    </p:spTree>
    <p:extLst>
      <p:ext uri="{BB962C8B-B14F-4D97-AF65-F5344CB8AC3E}">
        <p14:creationId xmlns:p14="http://schemas.microsoft.com/office/powerpoint/2010/main" val="30461749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D4102A-A558-15BE-EF65-204A600D0B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18E333-6DA9-71AD-0DB2-5E32243C59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B48E11-AD8E-AC5B-5DB1-EFC6B42A4D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E79C59F-2AC9-4674-8B37-DAD4022A9D70}" type="datetimeFigureOut">
              <a:rPr lang="en-US" smtClean="0"/>
              <a:t>10/21/2025</a:t>
            </a:fld>
            <a:endParaRPr lang="en-US"/>
          </a:p>
        </p:txBody>
      </p:sp>
      <p:sp>
        <p:nvSpPr>
          <p:cNvPr id="5" name="Footer Placeholder 4">
            <a:extLst>
              <a:ext uri="{FF2B5EF4-FFF2-40B4-BE49-F238E27FC236}">
                <a16:creationId xmlns:a16="http://schemas.microsoft.com/office/drawing/2014/main" id="{DA3A2500-6619-E70E-0AE1-329A08DC53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BB79761-19EA-E1AF-6076-E6C23FD6D5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06157B6-6F05-4D27-A213-9B043FA456B0}" type="slidenum">
              <a:rPr lang="en-US" smtClean="0"/>
              <a:t>‹#›</a:t>
            </a:fld>
            <a:endParaRPr lang="en-US"/>
          </a:p>
        </p:txBody>
      </p:sp>
    </p:spTree>
    <p:extLst>
      <p:ext uri="{BB962C8B-B14F-4D97-AF65-F5344CB8AC3E}">
        <p14:creationId xmlns:p14="http://schemas.microsoft.com/office/powerpoint/2010/main" val="250671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B78B8-3207-364A-AE23-0E8D4D7652A3}"/>
              </a:ext>
            </a:extLst>
          </p:cNvPr>
          <p:cNvSpPr>
            <a:spLocks noGrp="1"/>
          </p:cNvSpPr>
          <p:nvPr>
            <p:ph type="ctrTitle"/>
          </p:nvPr>
        </p:nvSpPr>
        <p:spPr/>
        <p:txBody>
          <a:bodyPr/>
          <a:lstStyle/>
          <a:p>
            <a:r>
              <a:rPr lang="en-US" dirty="0"/>
              <a:t>Weekly Progress Report - August 21, 2025</a:t>
            </a:r>
          </a:p>
        </p:txBody>
      </p:sp>
    </p:spTree>
    <p:extLst>
      <p:ext uri="{BB962C8B-B14F-4D97-AF65-F5344CB8AC3E}">
        <p14:creationId xmlns:p14="http://schemas.microsoft.com/office/powerpoint/2010/main" val="3272955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BB57C-CA36-126D-4CA5-56421ED473D1}"/>
              </a:ext>
            </a:extLst>
          </p:cNvPr>
          <p:cNvSpPr>
            <a:spLocks noGrp="1"/>
          </p:cNvSpPr>
          <p:nvPr>
            <p:ph type="title"/>
          </p:nvPr>
        </p:nvSpPr>
        <p:spPr/>
        <p:txBody>
          <a:bodyPr/>
          <a:lstStyle/>
          <a:p>
            <a:r>
              <a:rPr lang="en-US" dirty="0"/>
              <a:t>Progress Summary</a:t>
            </a:r>
            <a:br>
              <a:rPr lang="en-US" dirty="0"/>
            </a:br>
            <a:endParaRPr lang="en-US" dirty="0"/>
          </a:p>
        </p:txBody>
      </p:sp>
      <p:sp>
        <p:nvSpPr>
          <p:cNvPr id="14" name="TextBox 13">
            <a:extLst>
              <a:ext uri="{FF2B5EF4-FFF2-40B4-BE49-F238E27FC236}">
                <a16:creationId xmlns:a16="http://schemas.microsoft.com/office/drawing/2014/main" id="{01858C88-7319-5BDE-976F-4C17229705BC}"/>
              </a:ext>
            </a:extLst>
          </p:cNvPr>
          <p:cNvSpPr txBox="1"/>
          <p:nvPr/>
        </p:nvSpPr>
        <p:spPr>
          <a:xfrm>
            <a:off x="880179" y="1690688"/>
            <a:ext cx="10601838" cy="3293209"/>
          </a:xfrm>
          <a:prstGeom prst="rect">
            <a:avLst/>
          </a:prstGeom>
          <a:noFill/>
        </p:spPr>
        <p:txBody>
          <a:bodyPr wrap="square">
            <a:spAutoFit/>
          </a:bodyPr>
          <a:lstStyle/>
          <a:p>
            <a:pPr marL="285750" indent="-285750">
              <a:buFont typeface="Arial" panose="020B0604020202020204" pitchFamily="34" charset="0"/>
              <a:buChar char="•"/>
            </a:pPr>
            <a:r>
              <a:rPr lang="en-US" sz="2600" dirty="0"/>
              <a:t>Developed and tested both multi-class and binary machine learning models to classify states using turning kinematics.</a:t>
            </a:r>
          </a:p>
          <a:p>
            <a:endParaRPr lang="en-US" sz="2600" dirty="0"/>
          </a:p>
          <a:p>
            <a:pPr marL="285750" indent="-285750">
              <a:buFont typeface="Arial" panose="020B0604020202020204" pitchFamily="34" charset="0"/>
              <a:buChar char="•"/>
            </a:pPr>
            <a:r>
              <a:rPr lang="en-US" sz="2600" dirty="0"/>
              <a:t>Achieved 75% accuracy in a focused binary model distinguishing Control vs. PD Off-Medication.</a:t>
            </a:r>
          </a:p>
          <a:p>
            <a:endParaRPr lang="en-US" sz="2600" dirty="0"/>
          </a:p>
          <a:p>
            <a:pPr marL="285750" indent="-285750">
              <a:buFont typeface="Arial" panose="020B0604020202020204" pitchFamily="34" charset="0"/>
              <a:buChar char="•"/>
            </a:pPr>
            <a:r>
              <a:rPr lang="en-US" sz="2600" dirty="0"/>
              <a:t>Performed statistical tests and feature importance analysis to understand the data's underlying patterns.</a:t>
            </a:r>
          </a:p>
        </p:txBody>
      </p:sp>
    </p:spTree>
    <p:extLst>
      <p:ext uri="{BB962C8B-B14F-4D97-AF65-F5344CB8AC3E}">
        <p14:creationId xmlns:p14="http://schemas.microsoft.com/office/powerpoint/2010/main" val="2812673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F1B7E-E4CA-6BD1-E9CE-11CF55CE20DC}"/>
              </a:ext>
            </a:extLst>
          </p:cNvPr>
          <p:cNvSpPr>
            <a:spLocks noGrp="1"/>
          </p:cNvSpPr>
          <p:nvPr>
            <p:ph type="title"/>
          </p:nvPr>
        </p:nvSpPr>
        <p:spPr/>
        <p:txBody>
          <a:bodyPr/>
          <a:lstStyle/>
          <a:p>
            <a:r>
              <a:rPr lang="en-US" dirty="0"/>
              <a:t>Key Findings</a:t>
            </a:r>
            <a:br>
              <a:rPr lang="en-US" dirty="0"/>
            </a:br>
            <a:endParaRPr lang="en-US" dirty="0"/>
          </a:p>
        </p:txBody>
      </p:sp>
      <p:sp>
        <p:nvSpPr>
          <p:cNvPr id="13" name="Content Placeholder 12">
            <a:extLst>
              <a:ext uri="{FF2B5EF4-FFF2-40B4-BE49-F238E27FC236}">
                <a16:creationId xmlns:a16="http://schemas.microsoft.com/office/drawing/2014/main" id="{B2A5EDAA-9C65-6AD7-167B-86DD4EF306F4}"/>
              </a:ext>
            </a:extLst>
          </p:cNvPr>
          <p:cNvSpPr>
            <a:spLocks noGrp="1"/>
          </p:cNvSpPr>
          <p:nvPr>
            <p:ph idx="1"/>
          </p:nvPr>
        </p:nvSpPr>
        <p:spPr/>
        <p:txBody>
          <a:bodyPr>
            <a:normAutofit fontScale="92500" lnSpcReduction="20000"/>
          </a:bodyPr>
          <a:lstStyle/>
          <a:p>
            <a:r>
              <a:rPr lang="en-US" dirty="0"/>
              <a:t>SMOTE Method Improved Minority Class Detection: The initial 4-class model completely failed to identify the PD Off-Med group (0% precision/recall). After applying the SMOTE technique to balance the training data, the model began to correctly identify this group, increasing its precision from 0% to 23%.</a:t>
            </a:r>
          </a:p>
          <a:p>
            <a:endParaRPr lang="en-US" dirty="0"/>
          </a:p>
          <a:p>
            <a:r>
              <a:rPr lang="en-US" dirty="0"/>
              <a:t>Medication Normalizes Movement: The model finds it extremely difficult to separate Control subjects from PD On-Medication patients, suggesting medication successfully restores turning kinematics to a near-healthy state.</a:t>
            </a:r>
          </a:p>
          <a:p>
            <a:endParaRPr lang="en-US" dirty="0"/>
          </a:p>
          <a:p>
            <a:r>
              <a:rPr lang="en-US" dirty="0"/>
              <a:t>Trunk Rotation is a Key Indicator: In the Control vs. PD Off-Med model, total trunk rotation was the most important feature for classification.</a:t>
            </a:r>
          </a:p>
        </p:txBody>
      </p:sp>
    </p:spTree>
    <p:extLst>
      <p:ext uri="{BB962C8B-B14F-4D97-AF65-F5344CB8AC3E}">
        <p14:creationId xmlns:p14="http://schemas.microsoft.com/office/powerpoint/2010/main" val="1721798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82DEC-DF76-991D-F5BD-84B1C068760C}"/>
              </a:ext>
            </a:extLst>
          </p:cNvPr>
          <p:cNvSpPr>
            <a:spLocks noGrp="1"/>
          </p:cNvSpPr>
          <p:nvPr>
            <p:ph type="title"/>
          </p:nvPr>
        </p:nvSpPr>
        <p:spPr>
          <a:xfrm>
            <a:off x="93588" y="27225"/>
            <a:ext cx="10515600" cy="1325563"/>
          </a:xfrm>
        </p:spPr>
        <p:txBody>
          <a:bodyPr/>
          <a:lstStyle/>
          <a:p>
            <a:r>
              <a:rPr lang="en-US" altLang="zh-CN" dirty="0"/>
              <a:t>Original Method : </a:t>
            </a:r>
            <a:r>
              <a:rPr lang="en-US" dirty="0"/>
              <a:t>Balanced</a:t>
            </a:r>
          </a:p>
        </p:txBody>
      </p:sp>
      <p:pic>
        <p:nvPicPr>
          <p:cNvPr id="5" name="Content Placeholder 4">
            <a:extLst>
              <a:ext uri="{FF2B5EF4-FFF2-40B4-BE49-F238E27FC236}">
                <a16:creationId xmlns:a16="http://schemas.microsoft.com/office/drawing/2014/main" id="{9253ABCE-DBA1-FB64-C12E-A0BF68679351}"/>
              </a:ext>
            </a:extLst>
          </p:cNvPr>
          <p:cNvPicPr>
            <a:picLocks noGrp="1" noChangeAspect="1"/>
          </p:cNvPicPr>
          <p:nvPr>
            <p:ph idx="1"/>
          </p:nvPr>
        </p:nvPicPr>
        <p:blipFill>
          <a:blip r:embed="rId2"/>
          <a:stretch>
            <a:fillRect/>
          </a:stretch>
        </p:blipFill>
        <p:spPr>
          <a:xfrm>
            <a:off x="5575846" y="1095091"/>
            <a:ext cx="6256631" cy="5657060"/>
          </a:xfrm>
          <a:prstGeom prst="rect">
            <a:avLst/>
          </a:prstGeom>
        </p:spPr>
      </p:pic>
      <p:pic>
        <p:nvPicPr>
          <p:cNvPr id="9" name="Picture 8">
            <a:extLst>
              <a:ext uri="{FF2B5EF4-FFF2-40B4-BE49-F238E27FC236}">
                <a16:creationId xmlns:a16="http://schemas.microsoft.com/office/drawing/2014/main" id="{7EF8EF11-35CF-0D6A-4043-BE8CE6D39904}"/>
              </a:ext>
            </a:extLst>
          </p:cNvPr>
          <p:cNvPicPr>
            <a:picLocks noChangeAspect="1"/>
          </p:cNvPicPr>
          <p:nvPr/>
        </p:nvPicPr>
        <p:blipFill>
          <a:blip r:embed="rId3"/>
          <a:stretch>
            <a:fillRect/>
          </a:stretch>
        </p:blipFill>
        <p:spPr>
          <a:xfrm>
            <a:off x="211686" y="1048279"/>
            <a:ext cx="5044746" cy="5703872"/>
          </a:xfrm>
          <a:prstGeom prst="rect">
            <a:avLst/>
          </a:prstGeom>
        </p:spPr>
      </p:pic>
    </p:spTree>
    <p:extLst>
      <p:ext uri="{BB962C8B-B14F-4D97-AF65-F5344CB8AC3E}">
        <p14:creationId xmlns:p14="http://schemas.microsoft.com/office/powerpoint/2010/main" val="1360300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59BFC-A8F5-725B-E387-8F48242FE22C}"/>
              </a:ext>
            </a:extLst>
          </p:cNvPr>
          <p:cNvSpPr>
            <a:spLocks noGrp="1"/>
          </p:cNvSpPr>
          <p:nvPr>
            <p:ph type="title"/>
          </p:nvPr>
        </p:nvSpPr>
        <p:spPr>
          <a:xfrm>
            <a:off x="411115" y="228239"/>
            <a:ext cx="10515600" cy="1325563"/>
          </a:xfrm>
        </p:spPr>
        <p:txBody>
          <a:bodyPr/>
          <a:lstStyle/>
          <a:p>
            <a:r>
              <a:rPr lang="en-US" dirty="0"/>
              <a:t>Current Method : SMOTE</a:t>
            </a:r>
          </a:p>
        </p:txBody>
      </p:sp>
      <p:pic>
        <p:nvPicPr>
          <p:cNvPr id="6" name="Content Placeholder 5">
            <a:extLst>
              <a:ext uri="{FF2B5EF4-FFF2-40B4-BE49-F238E27FC236}">
                <a16:creationId xmlns:a16="http://schemas.microsoft.com/office/drawing/2014/main" id="{AC02F37D-85EC-9A4D-7C3B-6DAB3FFA34CF}"/>
              </a:ext>
            </a:extLst>
          </p:cNvPr>
          <p:cNvPicPr>
            <a:picLocks noGrp="1" noChangeAspect="1"/>
          </p:cNvPicPr>
          <p:nvPr>
            <p:ph idx="1"/>
          </p:nvPr>
        </p:nvPicPr>
        <p:blipFill>
          <a:blip r:embed="rId2"/>
          <a:stretch>
            <a:fillRect/>
          </a:stretch>
        </p:blipFill>
        <p:spPr>
          <a:xfrm>
            <a:off x="273772" y="1478553"/>
            <a:ext cx="5250955" cy="5287497"/>
          </a:xfrm>
          <a:prstGeom prst="rect">
            <a:avLst/>
          </a:prstGeom>
        </p:spPr>
      </p:pic>
      <p:pic>
        <p:nvPicPr>
          <p:cNvPr id="10" name="Picture 9">
            <a:extLst>
              <a:ext uri="{FF2B5EF4-FFF2-40B4-BE49-F238E27FC236}">
                <a16:creationId xmlns:a16="http://schemas.microsoft.com/office/drawing/2014/main" id="{E5FE1428-B0B1-9445-F46D-42E6D31A78BF}"/>
              </a:ext>
            </a:extLst>
          </p:cNvPr>
          <p:cNvPicPr>
            <a:picLocks noChangeAspect="1"/>
          </p:cNvPicPr>
          <p:nvPr/>
        </p:nvPicPr>
        <p:blipFill>
          <a:blip r:embed="rId3"/>
          <a:stretch>
            <a:fillRect/>
          </a:stretch>
        </p:blipFill>
        <p:spPr>
          <a:xfrm>
            <a:off x="6004849" y="1478553"/>
            <a:ext cx="6097355" cy="5287497"/>
          </a:xfrm>
          <a:prstGeom prst="rect">
            <a:avLst/>
          </a:prstGeom>
        </p:spPr>
      </p:pic>
    </p:spTree>
    <p:extLst>
      <p:ext uri="{BB962C8B-B14F-4D97-AF65-F5344CB8AC3E}">
        <p14:creationId xmlns:p14="http://schemas.microsoft.com/office/powerpoint/2010/main" val="2106967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7C776-0872-B783-7BC1-9B193C65B357}"/>
              </a:ext>
            </a:extLst>
          </p:cNvPr>
          <p:cNvSpPr>
            <a:spLocks noGrp="1"/>
          </p:cNvSpPr>
          <p:nvPr>
            <p:ph type="title"/>
          </p:nvPr>
        </p:nvSpPr>
        <p:spPr>
          <a:xfrm>
            <a:off x="712264" y="365125"/>
            <a:ext cx="10515600" cy="1325563"/>
          </a:xfrm>
        </p:spPr>
        <p:txBody>
          <a:bodyPr/>
          <a:lstStyle/>
          <a:p>
            <a:r>
              <a:rPr lang="en-US" b="1" dirty="0"/>
              <a:t>Summary of Differences</a:t>
            </a:r>
            <a:br>
              <a:rPr lang="en-US" b="1" dirty="0"/>
            </a:br>
            <a:endParaRPr lang="en-US" dirty="0"/>
          </a:p>
        </p:txBody>
      </p:sp>
      <p:graphicFrame>
        <p:nvGraphicFramePr>
          <p:cNvPr id="7" name="Content Placeholder 6">
            <a:extLst>
              <a:ext uri="{FF2B5EF4-FFF2-40B4-BE49-F238E27FC236}">
                <a16:creationId xmlns:a16="http://schemas.microsoft.com/office/drawing/2014/main" id="{C516C159-D17D-A4E5-472E-BB32B19F6BA6}"/>
              </a:ext>
            </a:extLst>
          </p:cNvPr>
          <p:cNvGraphicFramePr>
            <a:graphicFrameLocks noGrp="1"/>
          </p:cNvGraphicFramePr>
          <p:nvPr>
            <p:ph idx="1"/>
            <p:extLst>
              <p:ext uri="{D42A27DB-BD31-4B8C-83A1-F6EECF244321}">
                <p14:modId xmlns:p14="http://schemas.microsoft.com/office/powerpoint/2010/main" val="2670477508"/>
              </p:ext>
            </p:extLst>
          </p:nvPr>
        </p:nvGraphicFramePr>
        <p:xfrm>
          <a:off x="832723" y="2154589"/>
          <a:ext cx="10704048" cy="3676764"/>
        </p:xfrm>
        <a:graphic>
          <a:graphicData uri="http://schemas.openxmlformats.org/drawingml/2006/table">
            <a:tbl>
              <a:tblPr/>
              <a:tblGrid>
                <a:gridCol w="3568016">
                  <a:extLst>
                    <a:ext uri="{9D8B030D-6E8A-4147-A177-3AD203B41FA5}">
                      <a16:colId xmlns:a16="http://schemas.microsoft.com/office/drawing/2014/main" val="3415473557"/>
                    </a:ext>
                  </a:extLst>
                </a:gridCol>
                <a:gridCol w="3568016">
                  <a:extLst>
                    <a:ext uri="{9D8B030D-6E8A-4147-A177-3AD203B41FA5}">
                      <a16:colId xmlns:a16="http://schemas.microsoft.com/office/drawing/2014/main" val="2583598174"/>
                    </a:ext>
                  </a:extLst>
                </a:gridCol>
                <a:gridCol w="3568016">
                  <a:extLst>
                    <a:ext uri="{9D8B030D-6E8A-4147-A177-3AD203B41FA5}">
                      <a16:colId xmlns:a16="http://schemas.microsoft.com/office/drawing/2014/main" val="2109400846"/>
                    </a:ext>
                  </a:extLst>
                </a:gridCol>
              </a:tblGrid>
              <a:tr h="588282">
                <a:tc>
                  <a:txBody>
                    <a:bodyPr/>
                    <a:lstStyle/>
                    <a:p>
                      <a:pPr>
                        <a:buNone/>
                      </a:pPr>
                      <a:r>
                        <a:rPr lang="en-US" dirty="0"/>
                        <a:t>Feature</a:t>
                      </a:r>
                    </a:p>
                  </a:txBody>
                  <a:tcPr anchor="ctr">
                    <a:lnL>
                      <a:noFill/>
                    </a:lnL>
                    <a:lnR>
                      <a:noFill/>
                    </a:lnR>
                    <a:lnT>
                      <a:noFill/>
                    </a:lnT>
                    <a:lnB>
                      <a:noFill/>
                    </a:lnB>
                    <a:noFill/>
                  </a:tcPr>
                </a:tc>
                <a:tc>
                  <a:txBody>
                    <a:bodyPr/>
                    <a:lstStyle/>
                    <a:p>
                      <a:pPr>
                        <a:buNone/>
                      </a:pPr>
                      <a:r>
                        <a:rPr lang="en-US" dirty="0" err="1"/>
                        <a:t>class_weight</a:t>
                      </a:r>
                      <a:r>
                        <a:rPr lang="en-US" dirty="0"/>
                        <a:t>=</a:t>
                      </a:r>
                      <a:r>
                        <a:rPr lang="en-US" b="1" dirty="0">
                          <a:solidFill>
                            <a:srgbClr val="FF0000"/>
                          </a:solidFill>
                        </a:rPr>
                        <a:t>'balanced</a:t>
                      </a:r>
                      <a:r>
                        <a:rPr lang="en-US" dirty="0"/>
                        <a:t>'</a:t>
                      </a:r>
                    </a:p>
                  </a:txBody>
                  <a:tcPr anchor="ctr">
                    <a:lnL>
                      <a:noFill/>
                    </a:lnL>
                    <a:lnR>
                      <a:noFill/>
                    </a:lnR>
                    <a:lnT>
                      <a:noFill/>
                    </a:lnT>
                    <a:lnB>
                      <a:noFill/>
                    </a:lnB>
                    <a:noFill/>
                  </a:tcPr>
                </a:tc>
                <a:tc>
                  <a:txBody>
                    <a:bodyPr/>
                    <a:lstStyle/>
                    <a:p>
                      <a:pPr>
                        <a:buNone/>
                      </a:pPr>
                      <a:r>
                        <a:rPr lang="en-US" dirty="0">
                          <a:solidFill>
                            <a:srgbClr val="FF0000"/>
                          </a:solidFill>
                        </a:rPr>
                        <a:t>SMOTE</a:t>
                      </a:r>
                    </a:p>
                  </a:txBody>
                  <a:tcPr anchor="ctr">
                    <a:lnL>
                      <a:noFill/>
                    </a:lnL>
                    <a:lnR>
                      <a:noFill/>
                    </a:lnR>
                    <a:lnT>
                      <a:noFill/>
                    </a:lnT>
                    <a:lnB>
                      <a:noFill/>
                    </a:lnB>
                    <a:noFill/>
                  </a:tcPr>
                </a:tc>
                <a:extLst>
                  <a:ext uri="{0D108BD9-81ED-4DB2-BD59-A6C34878D82A}">
                    <a16:rowId xmlns:a16="http://schemas.microsoft.com/office/drawing/2014/main" val="2166541741"/>
                  </a:ext>
                </a:extLst>
              </a:tr>
              <a:tr h="1029494">
                <a:tc>
                  <a:txBody>
                    <a:bodyPr/>
                    <a:lstStyle/>
                    <a:p>
                      <a:pPr>
                        <a:buNone/>
                      </a:pPr>
                      <a:r>
                        <a:rPr lang="en-US" b="1" dirty="0"/>
                        <a:t>Approach</a:t>
                      </a:r>
                      <a:endParaRPr lang="en-US" dirty="0"/>
                    </a:p>
                  </a:txBody>
                  <a:tcPr anchor="ctr">
                    <a:lnL>
                      <a:noFill/>
                    </a:lnL>
                    <a:lnR>
                      <a:noFill/>
                    </a:lnR>
                    <a:lnT>
                      <a:noFill/>
                    </a:lnT>
                    <a:lnB>
                      <a:noFill/>
                    </a:lnB>
                    <a:noFill/>
                  </a:tcPr>
                </a:tc>
                <a:tc>
                  <a:txBody>
                    <a:bodyPr/>
                    <a:lstStyle/>
                    <a:p>
                      <a:pPr>
                        <a:buNone/>
                      </a:pPr>
                      <a:r>
                        <a:rPr lang="en-US" b="1" dirty="0"/>
                        <a:t>Algorithm-Level</a:t>
                      </a:r>
                      <a:r>
                        <a:rPr lang="en-US" dirty="0"/>
                        <a:t>: Changes the model's cost function.</a:t>
                      </a:r>
                    </a:p>
                  </a:txBody>
                  <a:tcPr anchor="ctr">
                    <a:lnL>
                      <a:noFill/>
                    </a:lnL>
                    <a:lnR>
                      <a:noFill/>
                    </a:lnR>
                    <a:lnT>
                      <a:noFill/>
                    </a:lnT>
                    <a:lnB>
                      <a:noFill/>
                    </a:lnB>
                    <a:noFill/>
                  </a:tcPr>
                </a:tc>
                <a:tc>
                  <a:txBody>
                    <a:bodyPr/>
                    <a:lstStyle/>
                    <a:p>
                      <a:pPr>
                        <a:buNone/>
                      </a:pPr>
                      <a:r>
                        <a:rPr lang="en-US" b="1" dirty="0"/>
                        <a:t>Data-Level</a:t>
                      </a:r>
                      <a:r>
                        <a:rPr lang="en-US" dirty="0"/>
                        <a:t>: Changes the training dataset.</a:t>
                      </a:r>
                    </a:p>
                  </a:txBody>
                  <a:tcPr anchor="ctr">
                    <a:lnL>
                      <a:noFill/>
                    </a:lnL>
                    <a:lnR>
                      <a:noFill/>
                    </a:lnR>
                    <a:lnT>
                      <a:noFill/>
                    </a:lnT>
                    <a:lnB>
                      <a:noFill/>
                    </a:lnB>
                    <a:noFill/>
                  </a:tcPr>
                </a:tc>
                <a:extLst>
                  <a:ext uri="{0D108BD9-81ED-4DB2-BD59-A6C34878D82A}">
                    <a16:rowId xmlns:a16="http://schemas.microsoft.com/office/drawing/2014/main" val="3551042210"/>
                  </a:ext>
                </a:extLst>
              </a:tr>
              <a:tr h="1029494">
                <a:tc>
                  <a:txBody>
                    <a:bodyPr/>
                    <a:lstStyle/>
                    <a:p>
                      <a:pPr>
                        <a:buNone/>
                      </a:pPr>
                      <a:r>
                        <a:rPr lang="en-US" b="1"/>
                        <a:t>How it Works</a:t>
                      </a:r>
                      <a:endParaRPr lang="en-US"/>
                    </a:p>
                  </a:txBody>
                  <a:tcPr anchor="ctr">
                    <a:lnL>
                      <a:noFill/>
                    </a:lnL>
                    <a:lnR>
                      <a:noFill/>
                    </a:lnR>
                    <a:lnT>
                      <a:noFill/>
                    </a:lnT>
                    <a:lnB>
                      <a:noFill/>
                    </a:lnB>
                    <a:noFill/>
                  </a:tcPr>
                </a:tc>
                <a:tc>
                  <a:txBody>
                    <a:bodyPr/>
                    <a:lstStyle/>
                    <a:p>
                      <a:pPr>
                        <a:buNone/>
                      </a:pPr>
                      <a:r>
                        <a:rPr lang="en-US" dirty="0"/>
                        <a:t>Increases the penalty for misclassifying minority classes.</a:t>
                      </a:r>
                    </a:p>
                  </a:txBody>
                  <a:tcPr anchor="ctr">
                    <a:lnL>
                      <a:noFill/>
                    </a:lnL>
                    <a:lnR>
                      <a:noFill/>
                    </a:lnR>
                    <a:lnT>
                      <a:noFill/>
                    </a:lnT>
                    <a:lnB>
                      <a:noFill/>
                    </a:lnB>
                    <a:noFill/>
                  </a:tcPr>
                </a:tc>
                <a:tc>
                  <a:txBody>
                    <a:bodyPr/>
                    <a:lstStyle/>
                    <a:p>
                      <a:pPr>
                        <a:buNone/>
                      </a:pPr>
                      <a:r>
                        <a:rPr lang="en-US" dirty="0"/>
                        <a:t>Creates new, synthetic data points for minority classes.</a:t>
                      </a:r>
                    </a:p>
                  </a:txBody>
                  <a:tcPr anchor="ctr">
                    <a:lnL>
                      <a:noFill/>
                    </a:lnL>
                    <a:lnR>
                      <a:noFill/>
                    </a:lnR>
                    <a:lnT>
                      <a:noFill/>
                    </a:lnT>
                    <a:lnB>
                      <a:noFill/>
                    </a:lnB>
                    <a:noFill/>
                  </a:tcPr>
                </a:tc>
                <a:extLst>
                  <a:ext uri="{0D108BD9-81ED-4DB2-BD59-A6C34878D82A}">
                    <a16:rowId xmlns:a16="http://schemas.microsoft.com/office/drawing/2014/main" val="3094507703"/>
                  </a:ext>
                </a:extLst>
              </a:tr>
              <a:tr h="1029494">
                <a:tc>
                  <a:txBody>
                    <a:bodyPr/>
                    <a:lstStyle/>
                    <a:p>
                      <a:pPr>
                        <a:buNone/>
                      </a:pPr>
                      <a:r>
                        <a:rPr lang="en-US" b="1"/>
                        <a:t>Effect on Data</a:t>
                      </a:r>
                      <a:endParaRPr lang="en-US"/>
                    </a:p>
                  </a:txBody>
                  <a:tcPr anchor="ctr">
                    <a:lnL>
                      <a:noFill/>
                    </a:lnL>
                    <a:lnR>
                      <a:noFill/>
                    </a:lnR>
                    <a:lnT>
                      <a:noFill/>
                    </a:lnT>
                    <a:lnB>
                      <a:noFill/>
                    </a:lnB>
                    <a:noFill/>
                  </a:tcPr>
                </a:tc>
                <a:tc>
                  <a:txBody>
                    <a:bodyPr/>
                    <a:lstStyle/>
                    <a:p>
                      <a:pPr>
                        <a:buNone/>
                      </a:pPr>
                      <a:r>
                        <a:rPr lang="en-US" dirty="0"/>
                        <a:t>The training data remains unchanged and imbalanced.</a:t>
                      </a:r>
                    </a:p>
                  </a:txBody>
                  <a:tcPr anchor="ctr">
                    <a:lnL>
                      <a:noFill/>
                    </a:lnL>
                    <a:lnR>
                      <a:noFill/>
                    </a:lnR>
                    <a:lnT>
                      <a:noFill/>
                    </a:lnT>
                    <a:lnB>
                      <a:noFill/>
                    </a:lnB>
                    <a:noFill/>
                  </a:tcPr>
                </a:tc>
                <a:tc>
                  <a:txBody>
                    <a:bodyPr/>
                    <a:lstStyle/>
                    <a:p>
                      <a:pPr>
                        <a:buNone/>
                      </a:pPr>
                      <a:r>
                        <a:rPr lang="en-US" dirty="0"/>
                        <a:t>The training data is expanded and becomes balanced.</a:t>
                      </a:r>
                    </a:p>
                  </a:txBody>
                  <a:tcPr anchor="ctr">
                    <a:lnL>
                      <a:noFill/>
                    </a:lnL>
                    <a:lnR>
                      <a:noFill/>
                    </a:lnR>
                    <a:lnT>
                      <a:noFill/>
                    </a:lnT>
                    <a:lnB>
                      <a:noFill/>
                    </a:lnB>
                    <a:noFill/>
                  </a:tcPr>
                </a:tc>
                <a:extLst>
                  <a:ext uri="{0D108BD9-81ED-4DB2-BD59-A6C34878D82A}">
                    <a16:rowId xmlns:a16="http://schemas.microsoft.com/office/drawing/2014/main" val="1886733467"/>
                  </a:ext>
                </a:extLst>
              </a:tr>
            </a:tbl>
          </a:graphicData>
        </a:graphic>
      </p:graphicFrame>
    </p:spTree>
    <p:extLst>
      <p:ext uri="{BB962C8B-B14F-4D97-AF65-F5344CB8AC3E}">
        <p14:creationId xmlns:p14="http://schemas.microsoft.com/office/powerpoint/2010/main" val="1841932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1928B9E1-3DF6-605A-6419-F3F87780B3D4}"/>
              </a:ext>
            </a:extLst>
          </p:cNvPr>
          <p:cNvPicPr>
            <a:picLocks noGrp="1" noChangeAspect="1"/>
          </p:cNvPicPr>
          <p:nvPr>
            <p:ph idx="1"/>
          </p:nvPr>
        </p:nvPicPr>
        <p:blipFill>
          <a:blip r:embed="rId2"/>
          <a:stretch>
            <a:fillRect/>
          </a:stretch>
        </p:blipFill>
        <p:spPr>
          <a:xfrm>
            <a:off x="2398247" y="2431"/>
            <a:ext cx="9563329" cy="3373671"/>
          </a:xfrm>
          <a:prstGeom prst="rect">
            <a:avLst/>
          </a:prstGeom>
        </p:spPr>
      </p:pic>
      <p:pic>
        <p:nvPicPr>
          <p:cNvPr id="11" name="Picture 10">
            <a:extLst>
              <a:ext uri="{FF2B5EF4-FFF2-40B4-BE49-F238E27FC236}">
                <a16:creationId xmlns:a16="http://schemas.microsoft.com/office/drawing/2014/main" id="{462F20D7-2292-3EA8-AEBE-8A259FE12E87}"/>
              </a:ext>
            </a:extLst>
          </p:cNvPr>
          <p:cNvPicPr>
            <a:picLocks noChangeAspect="1"/>
          </p:cNvPicPr>
          <p:nvPr/>
        </p:nvPicPr>
        <p:blipFill>
          <a:blip r:embed="rId3"/>
          <a:stretch>
            <a:fillRect/>
          </a:stretch>
        </p:blipFill>
        <p:spPr>
          <a:xfrm>
            <a:off x="2398247" y="3481898"/>
            <a:ext cx="9563329" cy="3376102"/>
          </a:xfrm>
          <a:prstGeom prst="rect">
            <a:avLst/>
          </a:prstGeom>
        </p:spPr>
      </p:pic>
      <p:sp>
        <p:nvSpPr>
          <p:cNvPr id="2" name="TextBox 1">
            <a:extLst>
              <a:ext uri="{FF2B5EF4-FFF2-40B4-BE49-F238E27FC236}">
                <a16:creationId xmlns:a16="http://schemas.microsoft.com/office/drawing/2014/main" id="{AE0355C5-EC9B-B79B-D831-B3663CAA2243}"/>
              </a:ext>
            </a:extLst>
          </p:cNvPr>
          <p:cNvSpPr txBox="1"/>
          <p:nvPr/>
        </p:nvSpPr>
        <p:spPr>
          <a:xfrm>
            <a:off x="164262" y="3263367"/>
            <a:ext cx="2283264" cy="2246769"/>
          </a:xfrm>
          <a:prstGeom prst="rect">
            <a:avLst/>
          </a:prstGeom>
          <a:noFill/>
        </p:spPr>
        <p:txBody>
          <a:bodyPr wrap="square" rtlCol="0">
            <a:spAutoFit/>
          </a:bodyPr>
          <a:lstStyle/>
          <a:p>
            <a:r>
              <a:rPr lang="en-US" sz="2800" dirty="0"/>
              <a:t>For each key feature, it will create two comparison plots.</a:t>
            </a:r>
          </a:p>
        </p:txBody>
      </p:sp>
      <p:sp>
        <p:nvSpPr>
          <p:cNvPr id="4" name="TextBox 3">
            <a:extLst>
              <a:ext uri="{FF2B5EF4-FFF2-40B4-BE49-F238E27FC236}">
                <a16:creationId xmlns:a16="http://schemas.microsoft.com/office/drawing/2014/main" id="{2D3F606E-2D97-C3B1-DDB9-E85165D8B09F}"/>
              </a:ext>
            </a:extLst>
          </p:cNvPr>
          <p:cNvSpPr txBox="1"/>
          <p:nvPr/>
        </p:nvSpPr>
        <p:spPr>
          <a:xfrm>
            <a:off x="59318" y="160287"/>
            <a:ext cx="2448438" cy="954107"/>
          </a:xfrm>
          <a:prstGeom prst="rect">
            <a:avLst/>
          </a:prstGeom>
          <a:noFill/>
        </p:spPr>
        <p:txBody>
          <a:bodyPr wrap="square">
            <a:spAutoFit/>
          </a:bodyPr>
          <a:lstStyle/>
          <a:p>
            <a:r>
              <a:rPr lang="en-US" sz="2800" dirty="0"/>
              <a:t>Data Visualization</a:t>
            </a:r>
          </a:p>
        </p:txBody>
      </p:sp>
    </p:spTree>
    <p:extLst>
      <p:ext uri="{BB962C8B-B14F-4D97-AF65-F5344CB8AC3E}">
        <p14:creationId xmlns:p14="http://schemas.microsoft.com/office/powerpoint/2010/main" val="1520695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19F1129-4E67-C0D7-3985-25C359B13A70}"/>
              </a:ext>
            </a:extLst>
          </p:cNvPr>
          <p:cNvPicPr>
            <a:picLocks noGrp="1" noChangeAspect="1"/>
          </p:cNvPicPr>
          <p:nvPr>
            <p:ph idx="1"/>
          </p:nvPr>
        </p:nvPicPr>
        <p:blipFill>
          <a:blip r:embed="rId2"/>
          <a:stretch>
            <a:fillRect/>
          </a:stretch>
        </p:blipFill>
        <p:spPr>
          <a:xfrm>
            <a:off x="1233803" y="120336"/>
            <a:ext cx="8842850" cy="3183534"/>
          </a:xfrm>
          <a:prstGeom prst="rect">
            <a:avLst/>
          </a:prstGeom>
        </p:spPr>
      </p:pic>
      <p:pic>
        <p:nvPicPr>
          <p:cNvPr id="7" name="Picture 6">
            <a:extLst>
              <a:ext uri="{FF2B5EF4-FFF2-40B4-BE49-F238E27FC236}">
                <a16:creationId xmlns:a16="http://schemas.microsoft.com/office/drawing/2014/main" id="{9422A691-05B2-3B9E-A767-B0D9BB207A97}"/>
              </a:ext>
            </a:extLst>
          </p:cNvPr>
          <p:cNvPicPr>
            <a:picLocks noChangeAspect="1"/>
          </p:cNvPicPr>
          <p:nvPr/>
        </p:nvPicPr>
        <p:blipFill>
          <a:blip r:embed="rId3"/>
          <a:stretch>
            <a:fillRect/>
          </a:stretch>
        </p:blipFill>
        <p:spPr>
          <a:xfrm>
            <a:off x="1237453" y="3626762"/>
            <a:ext cx="8842850" cy="3110902"/>
          </a:xfrm>
          <a:prstGeom prst="rect">
            <a:avLst/>
          </a:prstGeom>
        </p:spPr>
      </p:pic>
    </p:spTree>
    <p:extLst>
      <p:ext uri="{BB962C8B-B14F-4D97-AF65-F5344CB8AC3E}">
        <p14:creationId xmlns:p14="http://schemas.microsoft.com/office/powerpoint/2010/main" val="3260898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6B3DD9-E4BE-9A26-C544-E7442D798898}"/>
              </a:ext>
            </a:extLst>
          </p:cNvPr>
          <p:cNvPicPr>
            <a:picLocks noChangeAspect="1"/>
          </p:cNvPicPr>
          <p:nvPr/>
        </p:nvPicPr>
        <p:blipFill>
          <a:blip r:embed="rId2"/>
          <a:stretch>
            <a:fillRect/>
          </a:stretch>
        </p:blipFill>
        <p:spPr>
          <a:xfrm>
            <a:off x="1308632" y="38724"/>
            <a:ext cx="9128464" cy="3213693"/>
          </a:xfrm>
          <a:prstGeom prst="rect">
            <a:avLst/>
          </a:prstGeom>
        </p:spPr>
      </p:pic>
      <p:pic>
        <p:nvPicPr>
          <p:cNvPr id="7" name="Picture 6">
            <a:extLst>
              <a:ext uri="{FF2B5EF4-FFF2-40B4-BE49-F238E27FC236}">
                <a16:creationId xmlns:a16="http://schemas.microsoft.com/office/drawing/2014/main" id="{28C76811-CAE5-AF83-C543-429B001A03EA}"/>
              </a:ext>
            </a:extLst>
          </p:cNvPr>
          <p:cNvPicPr>
            <a:picLocks noChangeAspect="1"/>
          </p:cNvPicPr>
          <p:nvPr/>
        </p:nvPicPr>
        <p:blipFill>
          <a:blip r:embed="rId3"/>
          <a:stretch>
            <a:fillRect/>
          </a:stretch>
        </p:blipFill>
        <p:spPr>
          <a:xfrm>
            <a:off x="1308631" y="3469563"/>
            <a:ext cx="9355717" cy="3300434"/>
          </a:xfrm>
          <a:prstGeom prst="rect">
            <a:avLst/>
          </a:prstGeom>
        </p:spPr>
      </p:pic>
    </p:spTree>
    <p:extLst>
      <p:ext uri="{BB962C8B-B14F-4D97-AF65-F5344CB8AC3E}">
        <p14:creationId xmlns:p14="http://schemas.microsoft.com/office/powerpoint/2010/main" val="2144917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CD8EF9-384E-7E3D-9FCD-4C7882A7E82C}"/>
              </a:ext>
            </a:extLst>
          </p:cNvPr>
          <p:cNvPicPr>
            <a:picLocks noChangeAspect="1"/>
          </p:cNvPicPr>
          <p:nvPr/>
        </p:nvPicPr>
        <p:blipFill>
          <a:blip r:embed="rId2"/>
          <a:stretch>
            <a:fillRect/>
          </a:stretch>
        </p:blipFill>
        <p:spPr>
          <a:xfrm>
            <a:off x="1141494" y="65042"/>
            <a:ext cx="9345656" cy="3296884"/>
          </a:xfrm>
          <a:prstGeom prst="rect">
            <a:avLst/>
          </a:prstGeom>
        </p:spPr>
      </p:pic>
      <p:pic>
        <p:nvPicPr>
          <p:cNvPr id="7" name="Picture 6">
            <a:extLst>
              <a:ext uri="{FF2B5EF4-FFF2-40B4-BE49-F238E27FC236}">
                <a16:creationId xmlns:a16="http://schemas.microsoft.com/office/drawing/2014/main" id="{9639C770-6F85-EB5B-6E98-51C47AA7AF22}"/>
              </a:ext>
            </a:extLst>
          </p:cNvPr>
          <p:cNvPicPr>
            <a:picLocks noChangeAspect="1"/>
          </p:cNvPicPr>
          <p:nvPr/>
        </p:nvPicPr>
        <p:blipFill>
          <a:blip r:embed="rId3"/>
          <a:stretch>
            <a:fillRect/>
          </a:stretch>
        </p:blipFill>
        <p:spPr>
          <a:xfrm>
            <a:off x="1141494" y="3496074"/>
            <a:ext cx="9345656" cy="3296884"/>
          </a:xfrm>
          <a:prstGeom prst="rect">
            <a:avLst/>
          </a:prstGeom>
        </p:spPr>
      </p:pic>
    </p:spTree>
    <p:extLst>
      <p:ext uri="{BB962C8B-B14F-4D97-AF65-F5344CB8AC3E}">
        <p14:creationId xmlns:p14="http://schemas.microsoft.com/office/powerpoint/2010/main" val="4042244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BF28E-8953-D0FA-47AC-DD5A0E63A2E4}"/>
              </a:ext>
            </a:extLst>
          </p:cNvPr>
          <p:cNvSpPr>
            <a:spLocks noGrp="1"/>
          </p:cNvSpPr>
          <p:nvPr>
            <p:ph type="title"/>
          </p:nvPr>
        </p:nvSpPr>
        <p:spPr/>
        <p:txBody>
          <a:bodyPr/>
          <a:lstStyle/>
          <a:p>
            <a:r>
              <a:rPr lang="en-US" dirty="0"/>
              <a:t>Each feature significant difference</a:t>
            </a:r>
          </a:p>
        </p:txBody>
      </p:sp>
      <p:pic>
        <p:nvPicPr>
          <p:cNvPr id="5" name="Content Placeholder 4">
            <a:extLst>
              <a:ext uri="{FF2B5EF4-FFF2-40B4-BE49-F238E27FC236}">
                <a16:creationId xmlns:a16="http://schemas.microsoft.com/office/drawing/2014/main" id="{F6CEC376-37A7-DA82-1755-1864AC28DBC4}"/>
              </a:ext>
            </a:extLst>
          </p:cNvPr>
          <p:cNvPicPr>
            <a:picLocks noGrp="1" noChangeAspect="1"/>
          </p:cNvPicPr>
          <p:nvPr>
            <p:ph idx="1"/>
          </p:nvPr>
        </p:nvPicPr>
        <p:blipFill>
          <a:blip r:embed="rId2"/>
          <a:stretch>
            <a:fillRect/>
          </a:stretch>
        </p:blipFill>
        <p:spPr>
          <a:xfrm>
            <a:off x="733479" y="1842050"/>
            <a:ext cx="4899367" cy="4950258"/>
          </a:xfrm>
          <a:prstGeom prst="rect">
            <a:avLst/>
          </a:prstGeom>
        </p:spPr>
      </p:pic>
      <p:pic>
        <p:nvPicPr>
          <p:cNvPr id="6" name="Content Placeholder 4">
            <a:extLst>
              <a:ext uri="{FF2B5EF4-FFF2-40B4-BE49-F238E27FC236}">
                <a16:creationId xmlns:a16="http://schemas.microsoft.com/office/drawing/2014/main" id="{5B8C3FFA-265F-218F-BC1D-2251DA9A7A44}"/>
              </a:ext>
            </a:extLst>
          </p:cNvPr>
          <p:cNvPicPr>
            <a:picLocks noChangeAspect="1"/>
          </p:cNvPicPr>
          <p:nvPr/>
        </p:nvPicPr>
        <p:blipFill>
          <a:blip r:embed="rId3"/>
          <a:stretch>
            <a:fillRect/>
          </a:stretch>
        </p:blipFill>
        <p:spPr>
          <a:xfrm>
            <a:off x="6199805" y="1832247"/>
            <a:ext cx="5103848" cy="4960061"/>
          </a:xfrm>
          <a:prstGeom prst="rect">
            <a:avLst/>
          </a:prstGeom>
        </p:spPr>
      </p:pic>
      <p:sp>
        <p:nvSpPr>
          <p:cNvPr id="3" name="TextBox 2">
            <a:extLst>
              <a:ext uri="{FF2B5EF4-FFF2-40B4-BE49-F238E27FC236}">
                <a16:creationId xmlns:a16="http://schemas.microsoft.com/office/drawing/2014/main" id="{B4199056-42BD-1CF0-D8BC-68AD36487DCF}"/>
              </a:ext>
            </a:extLst>
          </p:cNvPr>
          <p:cNvSpPr txBox="1"/>
          <p:nvPr/>
        </p:nvSpPr>
        <p:spPr>
          <a:xfrm>
            <a:off x="1045811" y="1397036"/>
            <a:ext cx="912686" cy="369332"/>
          </a:xfrm>
          <a:prstGeom prst="rect">
            <a:avLst/>
          </a:prstGeom>
          <a:noFill/>
        </p:spPr>
        <p:txBody>
          <a:bodyPr wrap="none" rtlCol="0">
            <a:spAutoFit/>
          </a:bodyPr>
          <a:lstStyle/>
          <a:p>
            <a:r>
              <a:rPr lang="en-US" b="1" dirty="0"/>
              <a:t>Table 1</a:t>
            </a:r>
          </a:p>
        </p:txBody>
      </p:sp>
      <p:sp>
        <p:nvSpPr>
          <p:cNvPr id="4" name="TextBox 3">
            <a:extLst>
              <a:ext uri="{FF2B5EF4-FFF2-40B4-BE49-F238E27FC236}">
                <a16:creationId xmlns:a16="http://schemas.microsoft.com/office/drawing/2014/main" id="{7D6061DC-DD70-F9D5-8C14-712B36AF823B}"/>
              </a:ext>
            </a:extLst>
          </p:cNvPr>
          <p:cNvSpPr txBox="1"/>
          <p:nvPr/>
        </p:nvSpPr>
        <p:spPr>
          <a:xfrm>
            <a:off x="6199805" y="1397036"/>
            <a:ext cx="912686" cy="369332"/>
          </a:xfrm>
          <a:prstGeom prst="rect">
            <a:avLst/>
          </a:prstGeom>
          <a:noFill/>
        </p:spPr>
        <p:txBody>
          <a:bodyPr wrap="none" rtlCol="0">
            <a:spAutoFit/>
          </a:bodyPr>
          <a:lstStyle/>
          <a:p>
            <a:r>
              <a:rPr lang="en-US" b="1" dirty="0"/>
              <a:t>Table 2</a:t>
            </a:r>
          </a:p>
        </p:txBody>
      </p:sp>
    </p:spTree>
    <p:extLst>
      <p:ext uri="{BB962C8B-B14F-4D97-AF65-F5344CB8AC3E}">
        <p14:creationId xmlns:p14="http://schemas.microsoft.com/office/powerpoint/2010/main" val="107623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CAB2F-DC48-F445-DB8B-31E673CFD2EE}"/>
              </a:ext>
            </a:extLst>
          </p:cNvPr>
          <p:cNvSpPr>
            <a:spLocks noGrp="1"/>
          </p:cNvSpPr>
          <p:nvPr>
            <p:ph type="title"/>
          </p:nvPr>
        </p:nvSpPr>
        <p:spPr>
          <a:xfrm>
            <a:off x="564428" y="129680"/>
            <a:ext cx="10515600" cy="1325563"/>
          </a:xfrm>
        </p:spPr>
        <p:txBody>
          <a:bodyPr/>
          <a:lstStyle/>
          <a:p>
            <a:r>
              <a:rPr lang="en-US" dirty="0"/>
              <a:t>Key findings</a:t>
            </a:r>
          </a:p>
        </p:txBody>
      </p:sp>
      <p:sp>
        <p:nvSpPr>
          <p:cNvPr id="3" name="Content Placeholder 2">
            <a:extLst>
              <a:ext uri="{FF2B5EF4-FFF2-40B4-BE49-F238E27FC236}">
                <a16:creationId xmlns:a16="http://schemas.microsoft.com/office/drawing/2014/main" id="{C316394F-ABA6-A8D8-52B1-400BD95CEE85}"/>
              </a:ext>
            </a:extLst>
          </p:cNvPr>
          <p:cNvSpPr>
            <a:spLocks noGrp="1"/>
          </p:cNvSpPr>
          <p:nvPr>
            <p:ph idx="1"/>
          </p:nvPr>
        </p:nvSpPr>
        <p:spPr>
          <a:xfrm>
            <a:off x="487771" y="1455243"/>
            <a:ext cx="10758801" cy="4761340"/>
          </a:xfrm>
        </p:spPr>
        <p:txBody>
          <a:bodyPr>
            <a:noAutofit/>
          </a:bodyPr>
          <a:lstStyle/>
          <a:p>
            <a:r>
              <a:rPr lang="en-US" sz="1800" dirty="0"/>
              <a:t> </a:t>
            </a:r>
            <a:r>
              <a:rPr lang="en-US" sz="2000" dirty="0"/>
              <a:t>Control vs. PD On-Medication (Table 1)</a:t>
            </a:r>
          </a:p>
          <a:p>
            <a:r>
              <a:rPr lang="en-US" sz="2000" dirty="0"/>
              <a:t>Surprising Finding: From a purely statistical standpoint, the Control group and the On-Med group are significantly different in most of their movement features (6 out of 8 features show a P-Value &lt; 0.05).</a:t>
            </a:r>
          </a:p>
          <a:p>
            <a:r>
              <a:rPr lang="en-US" sz="2000" dirty="0"/>
              <a:t>This seems to contradict our idea that they are "very similar." So, why does the machine learning model struggle to separate them?</a:t>
            </a:r>
          </a:p>
          <a:p>
            <a:r>
              <a:rPr lang="en-US" sz="2000" dirty="0"/>
              <a:t>This is a classic case of "Statistical Significance vs. Practical Significance."</a:t>
            </a:r>
          </a:p>
          <a:p>
            <a:r>
              <a:rPr lang="en-US" sz="2000" dirty="0"/>
              <a:t>Statistical Significance (What the test shows): With a large number of samples (you have hundreds in each group), even very small, subtle differences in the groups' averages can be detected by a statistical test and flagged as "significant." The test is telling us, with high confidence, that the underlying distributions are not identical.</a:t>
            </a:r>
          </a:p>
          <a:p>
            <a:r>
              <a:rPr lang="en-US" sz="2000" dirty="0"/>
              <a:t>Practical Significance (What the model sees): Even though the group averages are different, the distributions of the features likely have a massive overlap. Imagine two wide bell curves whose peaks are slightly offset. While statistically different, a large number of individuals from both groups fall into the overlapping area. Your machine learning model gets confused by these individuals, as their feature values could plausibly belong to either group.</a:t>
            </a:r>
          </a:p>
        </p:txBody>
      </p:sp>
    </p:spTree>
    <p:extLst>
      <p:ext uri="{BB962C8B-B14F-4D97-AF65-F5344CB8AC3E}">
        <p14:creationId xmlns:p14="http://schemas.microsoft.com/office/powerpoint/2010/main" val="3200697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E43F8-ABD0-7A39-047E-791AD3AD9DF4}"/>
              </a:ext>
            </a:extLst>
          </p:cNvPr>
          <p:cNvSpPr>
            <a:spLocks noGrp="1"/>
          </p:cNvSpPr>
          <p:nvPr>
            <p:ph type="title"/>
          </p:nvPr>
        </p:nvSpPr>
        <p:spPr/>
        <p:txBody>
          <a:bodyPr/>
          <a:lstStyle/>
          <a:p>
            <a:r>
              <a:rPr lang="en-US" dirty="0"/>
              <a:t>C    and   PD off-med</a:t>
            </a:r>
          </a:p>
        </p:txBody>
      </p:sp>
      <p:pic>
        <p:nvPicPr>
          <p:cNvPr id="5" name="Content Placeholder 4">
            <a:extLst>
              <a:ext uri="{FF2B5EF4-FFF2-40B4-BE49-F238E27FC236}">
                <a16:creationId xmlns:a16="http://schemas.microsoft.com/office/drawing/2014/main" id="{DD42E6C4-10C8-3504-2F49-4A5AB1061C51}"/>
              </a:ext>
            </a:extLst>
          </p:cNvPr>
          <p:cNvPicPr>
            <a:picLocks noGrp="1" noChangeAspect="1"/>
          </p:cNvPicPr>
          <p:nvPr>
            <p:ph idx="1"/>
          </p:nvPr>
        </p:nvPicPr>
        <p:blipFill>
          <a:blip r:embed="rId2"/>
          <a:stretch>
            <a:fillRect/>
          </a:stretch>
        </p:blipFill>
        <p:spPr>
          <a:xfrm>
            <a:off x="838200" y="1746668"/>
            <a:ext cx="4845344" cy="4746207"/>
          </a:xfrm>
          <a:prstGeom prst="rect">
            <a:avLst/>
          </a:prstGeom>
        </p:spPr>
      </p:pic>
      <p:pic>
        <p:nvPicPr>
          <p:cNvPr id="7" name="Picture 6">
            <a:extLst>
              <a:ext uri="{FF2B5EF4-FFF2-40B4-BE49-F238E27FC236}">
                <a16:creationId xmlns:a16="http://schemas.microsoft.com/office/drawing/2014/main" id="{CF5BB02A-8FC4-CBA3-0D9D-A175E4FB64EF}"/>
              </a:ext>
            </a:extLst>
          </p:cNvPr>
          <p:cNvPicPr>
            <a:picLocks noChangeAspect="1"/>
          </p:cNvPicPr>
          <p:nvPr/>
        </p:nvPicPr>
        <p:blipFill>
          <a:blip r:embed="rId3"/>
          <a:stretch>
            <a:fillRect/>
          </a:stretch>
        </p:blipFill>
        <p:spPr>
          <a:xfrm>
            <a:off x="5921366" y="1746667"/>
            <a:ext cx="5880470" cy="4746207"/>
          </a:xfrm>
          <a:prstGeom prst="rect">
            <a:avLst/>
          </a:prstGeom>
        </p:spPr>
      </p:pic>
    </p:spTree>
    <p:extLst>
      <p:ext uri="{BB962C8B-B14F-4D97-AF65-F5344CB8AC3E}">
        <p14:creationId xmlns:p14="http://schemas.microsoft.com/office/powerpoint/2010/main" val="34910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5DF1FB0-1F45-4087-F398-1F7278B7E2EB}"/>
              </a:ext>
            </a:extLst>
          </p:cNvPr>
          <p:cNvPicPr>
            <a:picLocks noGrp="1" noChangeAspect="1"/>
          </p:cNvPicPr>
          <p:nvPr>
            <p:ph idx="1"/>
          </p:nvPr>
        </p:nvPicPr>
        <p:blipFill>
          <a:blip r:embed="rId2"/>
          <a:stretch>
            <a:fillRect/>
          </a:stretch>
        </p:blipFill>
        <p:spPr>
          <a:xfrm>
            <a:off x="77111" y="1270304"/>
            <a:ext cx="6690543" cy="3614238"/>
          </a:xfrm>
          <a:prstGeom prst="rect">
            <a:avLst/>
          </a:prstGeom>
        </p:spPr>
      </p:pic>
      <p:pic>
        <p:nvPicPr>
          <p:cNvPr id="7" name="Picture 6">
            <a:extLst>
              <a:ext uri="{FF2B5EF4-FFF2-40B4-BE49-F238E27FC236}">
                <a16:creationId xmlns:a16="http://schemas.microsoft.com/office/drawing/2014/main" id="{4011AAEB-DEBC-603F-0EE7-74F167AAAC23}"/>
              </a:ext>
            </a:extLst>
          </p:cNvPr>
          <p:cNvPicPr>
            <a:picLocks noChangeAspect="1"/>
          </p:cNvPicPr>
          <p:nvPr/>
        </p:nvPicPr>
        <p:blipFill>
          <a:blip r:embed="rId3"/>
          <a:stretch>
            <a:fillRect/>
          </a:stretch>
        </p:blipFill>
        <p:spPr>
          <a:xfrm>
            <a:off x="4840492" y="2498986"/>
            <a:ext cx="7104657" cy="4234089"/>
          </a:xfrm>
          <a:prstGeom prst="rect">
            <a:avLst/>
          </a:prstGeom>
        </p:spPr>
      </p:pic>
    </p:spTree>
    <p:extLst>
      <p:ext uri="{BB962C8B-B14F-4D97-AF65-F5344CB8AC3E}">
        <p14:creationId xmlns:p14="http://schemas.microsoft.com/office/powerpoint/2010/main" val="1955441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B385-1B8D-600B-822F-03424479E551}"/>
              </a:ext>
            </a:extLst>
          </p:cNvPr>
          <p:cNvSpPr>
            <a:spLocks noGrp="1"/>
          </p:cNvSpPr>
          <p:nvPr>
            <p:ph type="title"/>
          </p:nvPr>
        </p:nvSpPr>
        <p:spPr/>
        <p:txBody>
          <a:bodyPr/>
          <a:lstStyle/>
          <a:p>
            <a:r>
              <a:rPr lang="en-US" dirty="0"/>
              <a:t>Feature Work</a:t>
            </a:r>
          </a:p>
        </p:txBody>
      </p:sp>
      <p:sp>
        <p:nvSpPr>
          <p:cNvPr id="3" name="Content Placeholder 2">
            <a:extLst>
              <a:ext uri="{FF2B5EF4-FFF2-40B4-BE49-F238E27FC236}">
                <a16:creationId xmlns:a16="http://schemas.microsoft.com/office/drawing/2014/main" id="{8147B69C-3479-8E38-2FFB-931106D96295}"/>
              </a:ext>
            </a:extLst>
          </p:cNvPr>
          <p:cNvSpPr>
            <a:spLocks noGrp="1"/>
          </p:cNvSpPr>
          <p:nvPr>
            <p:ph idx="1"/>
          </p:nvPr>
        </p:nvSpPr>
        <p:spPr>
          <a:xfrm>
            <a:off x="679412" y="1633984"/>
            <a:ext cx="10515600" cy="4351338"/>
          </a:xfrm>
        </p:spPr>
        <p:txBody>
          <a:bodyPr>
            <a:normAutofit/>
          </a:bodyPr>
          <a:lstStyle/>
          <a:p>
            <a:r>
              <a:rPr lang="en-US" dirty="0"/>
              <a:t>Incorporate 3D Kinematic Data: Analyze the corresponding 3D motion capture data to determine if features related to vertical movement or depth can improve classification accuracy.</a:t>
            </a:r>
          </a:p>
          <a:p>
            <a:endParaRPr lang="en-US" dirty="0"/>
          </a:p>
          <a:p>
            <a:r>
              <a:rPr lang="en-US" dirty="0"/>
              <a:t>Explore Alternative Feature Calculations: Investigate different methods for calculating the existing kinematic features to see if alternative definitions can better capture the differences between groups.</a:t>
            </a:r>
          </a:p>
          <a:p>
            <a:pPr marL="0" indent="0">
              <a:buNone/>
            </a:pPr>
            <a:endParaRPr lang="en-US" dirty="0"/>
          </a:p>
        </p:txBody>
      </p:sp>
    </p:spTree>
    <p:extLst>
      <p:ext uri="{BB962C8B-B14F-4D97-AF65-F5344CB8AC3E}">
        <p14:creationId xmlns:p14="http://schemas.microsoft.com/office/powerpoint/2010/main" val="42567611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641</TotalTime>
  <Words>562</Words>
  <Application>Microsoft Office PowerPoint</Application>
  <PresentationFormat>Widescreen</PresentationFormat>
  <Paragraphs>45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Weekly Progress Report - August 21, 2025</vt:lpstr>
      <vt:lpstr>Progress Summary </vt:lpstr>
      <vt:lpstr>Key Findings </vt:lpstr>
      <vt:lpstr>Original Method : Balanced</vt:lpstr>
      <vt:lpstr>Current Method : SMOTE</vt:lpstr>
      <vt:lpstr>Summary of Differences </vt:lpstr>
      <vt:lpstr>PowerPoint Presentation</vt:lpstr>
      <vt:lpstr>PowerPoint Presentation</vt:lpstr>
      <vt:lpstr>PowerPoint Presentation</vt:lpstr>
      <vt:lpstr>PowerPoint Presentation</vt:lpstr>
      <vt:lpstr>Each feature significant difference</vt:lpstr>
      <vt:lpstr>Key findings</vt:lpstr>
      <vt:lpstr>C    and   PD off-med</vt:lpstr>
      <vt:lpstr>PowerPoint Presentation</vt:lpstr>
      <vt:lpstr>Feature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Qian, Kaiyang</dc:creator>
  <cp:lastModifiedBy>Qian, Kaiyang</cp:lastModifiedBy>
  <cp:revision>11</cp:revision>
  <dcterms:created xsi:type="dcterms:W3CDTF">2025-08-21T19:24:09Z</dcterms:created>
  <dcterms:modified xsi:type="dcterms:W3CDTF">2025-10-22T01:59:43Z</dcterms:modified>
</cp:coreProperties>
</file>